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7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7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7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74.xml" ContentType="application/vnd.openxmlformats-officedocument.drawingml.chart+xml"/>
  <Override PartName="/ppt/charts/chart7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7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7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78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79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80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7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1.xlsx"/></Relationships>
</file>

<file path=ppt/charts/_rels/chart7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2.xlsx"/></Relationships>
</file>

<file path=ppt/charts/_rels/chart7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3.xlsx"/></Relationships>
</file>

<file path=ppt/charts/_rels/chart7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4.xlsx"/></Relationships>
</file>

<file path=ppt/charts/_rels/chart7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5.xlsx"/></Relationships>
</file>

<file path=ppt/charts/_rels/chart7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6.xlsx"/></Relationships>
</file>

<file path=ppt/charts/_rels/chart7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7.xlsx"/></Relationships>
</file>

<file path=ppt/charts/_rels/chart7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8.xlsx"/></Relationships>
</file>

<file path=ppt/charts/_rels/chart7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9.xlsx"/></Relationships>
</file>

<file path=ppt/charts/_rels/chart8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0.xlsx"/></Relationships>
</file>

<file path=ppt/charts/chart7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4A55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Kenya</c:v>
                  </c:pt>
                  <c:pt idx="1">
                    <c:v>Tanzania</c:v>
                  </c:pt>
                  <c:pt idx="2">
                    <c:v>Sierra Leone</c:v>
                  </c:pt>
                  <c:pt idx="3">
                    <c:v>Uganda</c:v>
                  </c:pt>
                  <c:pt idx="4">
                    <c:v>Nigeria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111</c:v>
                </c:pt>
                <c:pt idx="1">
                  <c:v>103</c:v>
                </c:pt>
                <c:pt idx="2">
                  <c:v>57</c:v>
                </c:pt>
                <c:pt idx="3">
                  <c:v>45</c:v>
                </c:pt>
                <c:pt idx="4">
                  <c:v>33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1A7A6E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Tanzania</c:v>
                  </c:pt>
                  <c:pt idx="1">
                    <c:v>Kenya</c:v>
                  </c:pt>
                  <c:pt idx="2">
                    <c:v>Uganda</c:v>
                  </c:pt>
                  <c:pt idx="3">
                    <c:v>Sierra Leone</c:v>
                  </c:pt>
                  <c:pt idx="4">
                    <c:v>Nigeria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0.96448</c:v>
                </c:pt>
                <c:pt idx="1">
                  <c:v>0.891081</c:v>
                </c:pt>
                <c:pt idx="2">
                  <c:v>0.885795</c:v>
                </c:pt>
                <c:pt idx="3">
                  <c:v>0.831038</c:v>
                </c:pt>
                <c:pt idx="4">
                  <c:v>0.618565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4A55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Tanzania</c:v>
                  </c:pt>
                  <c:pt idx="1">
                    <c:v>Kenya</c:v>
                  </c:pt>
                  <c:pt idx="2">
                    <c:v>Sierra Leone</c:v>
                  </c:pt>
                  <c:pt idx="3">
                    <c:v>Uganda</c:v>
                  </c:pt>
                  <c:pt idx="4">
                    <c:v>Nigeria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2901600.368</c:v>
                </c:pt>
                <c:pt idx="1">
                  <c:v>2078321.191</c:v>
                </c:pt>
                <c:pt idx="2">
                  <c:v>624808.0046</c:v>
                </c:pt>
                <c:pt idx="3">
                  <c:v>351200.5457</c:v>
                </c:pt>
                <c:pt idx="4">
                  <c:v>152463.7681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4A55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Tanzania</c:v>
                  </c:pt>
                  <c:pt idx="1">
                    <c:v>Kenya</c:v>
                  </c:pt>
                  <c:pt idx="2">
                    <c:v>Sierra Leone</c:v>
                  </c:pt>
                  <c:pt idx="3">
                    <c:v>Uganda</c:v>
                  </c:pt>
                  <c:pt idx="4">
                    <c:v>Nigeria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209.501832</c:v>
                </c:pt>
                <c:pt idx="1">
                  <c:v>209.761929</c:v>
                </c:pt>
                <c:pt idx="2">
                  <c:v>415.984024</c:v>
                </c:pt>
                <c:pt idx="3">
                  <c:v>225.417552</c:v>
                </c:pt>
                <c:pt idx="4">
                  <c:v>213.534689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1A7A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Tanzania</c:v>
                  </c:pt>
                  <c:pt idx="1">
                    <c:v>Kenya</c:v>
                  </c:pt>
                  <c:pt idx="2">
                    <c:v>Sierra Leone</c:v>
                  </c:pt>
                  <c:pt idx="3">
                    <c:v>Uganda</c:v>
                  </c:pt>
                  <c:pt idx="4">
                    <c:v>Nigeria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247</c:v>
                </c:pt>
                <c:pt idx="1">
                  <c:v>230</c:v>
                </c:pt>
                <c:pt idx="2">
                  <c:v>33</c:v>
                </c:pt>
                <c:pt idx="3">
                  <c:v>68</c:v>
                </c:pt>
                <c:pt idx="4">
                  <c:v>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1A7A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Tanzania</c:v>
                  </c:pt>
                  <c:pt idx="1">
                    <c:v>Kenya</c:v>
                  </c:pt>
                  <c:pt idx="2">
                    <c:v>Uganda</c:v>
                  </c:pt>
                  <c:pt idx="3">
                    <c:v>Nigeria</c:v>
                  </c:pt>
                  <c:pt idx="4">
                    <c:v>Sierra Leone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4A55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Tanzania</c:v>
                  </c:pt>
                  <c:pt idx="1">
                    <c:v>Kenya</c:v>
                  </c:pt>
                  <c:pt idx="2">
                    <c:v>Sierra Leone</c:v>
                  </c:pt>
                  <c:pt idx="3">
                    <c:v>Uganda</c:v>
                  </c:pt>
                  <c:pt idx="4">
                    <c:v>Nigeria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5610175.933</c:v>
                </c:pt>
                <c:pt idx="1">
                  <c:v>3784306.511</c:v>
                </c:pt>
                <c:pt idx="2">
                  <c:v>1169213.148</c:v>
                </c:pt>
                <c:pt idx="3">
                  <c:v>1124088.812</c:v>
                </c:pt>
                <c:pt idx="4">
                  <c:v>469005.4218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4A55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Nigeria</c:v>
                  </c:pt>
                  <c:pt idx="1">
                    <c:v>Sierra Leone</c:v>
                  </c:pt>
                  <c:pt idx="2">
                    <c:v>Uganda</c:v>
                  </c:pt>
                  <c:pt idx="3">
                    <c:v>Tanzania</c:v>
                  </c:pt>
                  <c:pt idx="4">
                    <c:v>Kenya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338</c:v>
                </c:pt>
                <c:pt idx="1">
                  <c:v>758</c:v>
                </c:pt>
                <c:pt idx="2">
                  <c:v>1073</c:v>
                </c:pt>
                <c:pt idx="3">
                  <c:v>1249</c:v>
                </c:pt>
                <c:pt idx="4">
                  <c:v>1447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C47A1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47A1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47A1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47A1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47A1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47A1A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Nigeria</c:v>
                  </c:pt>
                  <c:pt idx="1">
                    <c:v>Uganda</c:v>
                  </c:pt>
                  <c:pt idx="2">
                    <c:v>Sierra Leone</c:v>
                  </c:pt>
                  <c:pt idx="3">
                    <c:v>Kenya</c:v>
                  </c:pt>
                  <c:pt idx="4">
                    <c:v>Tanzania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53</c:v>
                </c:pt>
                <c:pt idx="1">
                  <c:v>88</c:v>
                </c:pt>
                <c:pt idx="2">
                  <c:v>141</c:v>
                </c:pt>
                <c:pt idx="3">
                  <c:v>173</c:v>
                </c:pt>
                <c:pt idx="4">
                  <c:v>288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Sierra Leone</c:v>
                  </c:pt>
                  <c:pt idx="1">
                    <c:v>Kenya</c:v>
                  </c:pt>
                  <c:pt idx="2">
                    <c:v>Uganda</c:v>
                  </c:pt>
                  <c:pt idx="3">
                    <c:v>Tanzania</c:v>
                  </c:pt>
                  <c:pt idx="4">
                    <c:v>Nigeria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</c:v>
                </c:pt>
                <c:pt idx="1">
                  <c:v>23</c:v>
                </c:pt>
                <c:pt idx="2">
                  <c:v>23</c:v>
                </c:pt>
                <c:pt idx="3">
                  <c:v>60</c:v>
                </c:pt>
                <c:pt idx="4">
                  <c:v>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4.xml"/><Relationship Id="rId2" Type="http://schemas.openxmlformats.org/officeDocument/2006/relationships/chart" Target="/ppt/charts/chart7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D3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FFF9D9"/>
          </a:solidFill>
          <a:ln w="12700">
            <a:solidFill>
              <a:srgbClr val="FFF9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0"/>
            <a:ext cx="54864" cy="6858000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1371600"/>
            <a:ext cx="6400800" cy="6400800"/>
          </a:xfrm>
          <a:prstGeom prst="ellipse">
            <a:avLst/>
          </a:prstGeom>
          <a:solidFill>
            <a:srgbClr val="FFF9D9">
              <a:alpha val="8000"/>
            </a:srgbClr>
          </a:solidFill>
          <a:ln w="12700">
            <a:solidFill>
              <a:srgbClr val="FFF9D9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spc="800" kern="0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spc="600" kern="0" dirty="0">
                <a:solidFill>
                  <a:srgbClr val="C495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MICROCREDIT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3017520"/>
            <a:ext cx="548640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MONTHLY PERFORMANCE REVIEW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749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95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JANUARY 2026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42976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Prepared: October 6, 2026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28800" y="61264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0E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Tanzania  ·  Kenya  ·  Uganda  ·  Sierra Leone  ·  Nigeria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Loan Applications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January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Average Number of Applications Per Team – January 2026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37160" y="841248"/>
          <a:ext cx="75895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0" y="5577840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557784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" y="5577840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from Prior 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655064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172968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690872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08776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955280" y="68580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955280" y="68580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55280" y="777240"/>
            <a:ext cx="4069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30,291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8001000" y="128930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Applications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955280" y="178308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955280" y="178308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55280" y="1874520"/>
            <a:ext cx="4069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87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8001000" y="238658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Avg per Team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955280" y="288036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7955280" y="288036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955280" y="2971800"/>
            <a:ext cx="4069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—</a:t>
            </a:r>
            <a:endParaRPr lang="en-US" sz="2600" dirty="0"/>
          </a:p>
        </p:txBody>
      </p:sp>
      <p:sp>
        <p:nvSpPr>
          <p:cNvPr id="31" name="Text 28"/>
          <p:cNvSpPr/>
          <p:nvPr/>
        </p:nvSpPr>
        <p:spPr>
          <a:xfrm>
            <a:off x="8001000" y="348386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vs Prior Month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7955280" y="3977640"/>
            <a:ext cx="4069080" cy="2578608"/>
          </a:xfrm>
          <a:prstGeom prst="rect">
            <a:avLst/>
          </a:prstGeom>
          <a:solidFill>
            <a:srgbClr val="FAF7F2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955280" y="3977640"/>
            <a:ext cx="54864" cy="2578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065008" y="4032504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HIGHLIGHTS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8065008" y="4297680"/>
            <a:ext cx="3886200" cy="2167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total: 30,291 applications.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 had the highest avg applications per team (111).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Assessment Efficiency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January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Loan Approval Rate (%) Per Country – January 2026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37160" y="841248"/>
          <a:ext cx="75895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0" y="5577840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557784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" y="5577840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Trend vs Prior 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655064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172968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690872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08776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955280" y="68580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955280" y="68580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55280" y="777240"/>
            <a:ext cx="4069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27,600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8001000" y="128930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Approvals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955280" y="178308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955280" y="178308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55280" y="1874520"/>
            <a:ext cx="4069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91.1%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8001000" y="238658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Approval Rate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955280" y="288036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7955280" y="288036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955280" y="2971800"/>
            <a:ext cx="4069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7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—</a:t>
            </a:r>
            <a:endParaRPr lang="en-US" sz="2600" dirty="0"/>
          </a:p>
        </p:txBody>
      </p:sp>
      <p:sp>
        <p:nvSpPr>
          <p:cNvPr id="31" name="Text 28"/>
          <p:cNvSpPr/>
          <p:nvPr/>
        </p:nvSpPr>
        <p:spPr>
          <a:xfrm>
            <a:off x="8001000" y="348386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vs Prior Month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7955280" y="3977640"/>
            <a:ext cx="4069080" cy="2578608"/>
          </a:xfrm>
          <a:prstGeom prst="rect">
            <a:avLst/>
          </a:prstGeom>
          <a:solidFill>
            <a:srgbClr val="FAF7F2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955280" y="3977640"/>
            <a:ext cx="54864" cy="2578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065008" y="4032504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HIGHLIGHTS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8065008" y="4297680"/>
            <a:ext cx="3886200" cy="2167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total approvals: 27,600.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Tanzania had the highest approval rate (96.4%).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Disbursement Trend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January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Disbursements Per Country (USD) – January 2026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37160" y="841248"/>
          <a:ext cx="75895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0" y="5577840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557784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" y="5577840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from Prior 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655064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172968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690872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08776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955280" y="685800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955280" y="68580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55280" y="777240"/>
            <a:ext cx="40690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$6,108,394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8001000" y="1316736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Disbursed (USD)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955280" y="1828800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955280" y="182880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55280" y="1920240"/>
            <a:ext cx="40690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—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8001000" y="2459736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vs Prior Month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955280" y="2971800"/>
            <a:ext cx="4069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7955280" y="297180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955280" y="3063240"/>
            <a:ext cx="4069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79</a:t>
            </a:r>
            <a:endParaRPr lang="en-US" sz="2600" dirty="0"/>
          </a:p>
        </p:txBody>
      </p:sp>
      <p:sp>
        <p:nvSpPr>
          <p:cNvPr id="31" name="Text 28"/>
          <p:cNvSpPr/>
          <p:nvPr/>
        </p:nvSpPr>
        <p:spPr>
          <a:xfrm>
            <a:off x="8001000" y="3410712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Disb per Team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7955280" y="3703320"/>
            <a:ext cx="406908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955280" y="370332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065008" y="3703320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Number of Teams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7955280" y="4023360"/>
            <a:ext cx="1234440" cy="530352"/>
          </a:xfrm>
          <a:prstGeom prst="rect">
            <a:avLst/>
          </a:prstGeom>
          <a:solidFill>
            <a:srgbClr val="FFF9D9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955280" y="402336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Tanzania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7955280" y="426110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139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9308592" y="4023360"/>
            <a:ext cx="1234440" cy="530352"/>
          </a:xfrm>
          <a:prstGeom prst="rect">
            <a:avLst/>
          </a:prstGeom>
          <a:solidFill>
            <a:srgbClr val="FFF9D9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308592" y="402336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9308592" y="426110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10661904" y="4023360"/>
            <a:ext cx="1234440" cy="530352"/>
          </a:xfrm>
          <a:prstGeom prst="rect">
            <a:avLst/>
          </a:prstGeom>
          <a:solidFill>
            <a:srgbClr val="FFF9D9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0661904" y="402336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Sierra Leone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10661904" y="426110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33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7955280" y="4617720"/>
            <a:ext cx="1234440" cy="530352"/>
          </a:xfrm>
          <a:prstGeom prst="rect">
            <a:avLst/>
          </a:prstGeom>
          <a:solidFill>
            <a:srgbClr val="FFF9D9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955280" y="461772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Uganda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7955280" y="485546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39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9308592" y="4617720"/>
            <a:ext cx="1234440" cy="530352"/>
          </a:xfrm>
          <a:prstGeom prst="rect">
            <a:avLst/>
          </a:prstGeom>
          <a:solidFill>
            <a:srgbClr val="FFF9D9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9308592" y="461772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9308592" y="485546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36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7955280" y="5321808"/>
            <a:ext cx="4069080" cy="960120"/>
          </a:xfrm>
          <a:prstGeom prst="rect">
            <a:avLst/>
          </a:prstGeom>
          <a:solidFill>
            <a:srgbClr val="FAF7F2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955280" y="5321808"/>
            <a:ext cx="54864" cy="9601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065008" y="5376672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HIGHLIGHTS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8065008" y="5641848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disbursed: $6,108,394.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Tanzania had the highest disbursements ($2,901,600).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Disbursement Stats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January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59893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5879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Average Loan Size (USD) – January 2026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539496"/>
            <a:ext cx="585216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81928" y="539496"/>
            <a:ext cx="5742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Avg Disbursements Per Team – January 2026</a:t>
            </a:r>
            <a:endParaRPr lang="en-US" sz="12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137160" y="841248"/>
          <a:ext cx="58064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5" name="Chart 1" descr=""/>
          <p:cNvGraphicFramePr/>
          <p:nvPr/>
        </p:nvGraphicFramePr>
        <p:xfrm>
          <a:off x="6172200" y="841248"/>
          <a:ext cx="58064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Shape 12"/>
          <p:cNvSpPr/>
          <p:nvPr/>
        </p:nvSpPr>
        <p:spPr>
          <a:xfrm>
            <a:off x="0" y="5577840"/>
            <a:ext cx="59893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0" y="557784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09728" y="5577840"/>
            <a:ext cx="5879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from Prior Month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37160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298448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2459736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3621024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782312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172200" y="5577840"/>
            <a:ext cx="585216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172200" y="557784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281928" y="5577840"/>
            <a:ext cx="5742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from Prior Month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6172200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7333488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8494776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9656064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0817352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Turnaround Time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January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Avg Days from Application to Disbursement – January 2026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37160" y="841248"/>
          <a:ext cx="75895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0" y="5577840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557784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" y="5577840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Trend vs Prior 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655064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172968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690872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08776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955280" y="685800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955280" y="68580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55280" y="777240"/>
            <a:ext cx="40690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days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8001000" y="1316736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Avg Turnaround Time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955280" y="1828800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955280" y="182880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55280" y="1920240"/>
            <a:ext cx="40690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180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—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8001000" y="2459736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vs Prior Month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955280" y="2971800"/>
            <a:ext cx="4069080" cy="3584448"/>
          </a:xfrm>
          <a:prstGeom prst="rect">
            <a:avLst/>
          </a:prstGeom>
          <a:solidFill>
            <a:srgbClr val="FAF7F2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955280" y="2971800"/>
            <a:ext cx="54864" cy="358444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065008" y="3026664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HIGHLIGHTS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8065008" y="3291840"/>
            <a:ext cx="3886200" cy="3172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avg turnaround: 3 days.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Fastest: Tanzania (2 days). Slowest: Sierra Leone (6 days).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Loan Book Size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January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Loan Book – P+I Outstanding (≤60 Days Overdue) – January 2026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37160" y="841248"/>
          <a:ext cx="75895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0" y="5577840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557784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" y="5577840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from Prior 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655064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172968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690872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08776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955280" y="68580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955280" y="68580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55280" y="777240"/>
            <a:ext cx="4069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$12,156,790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8001000" y="128930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Loan Book (USD)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955280" y="178308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955280" y="178308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55280" y="1874520"/>
            <a:ext cx="4069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—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8001000" y="238658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vs Prior Month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955280" y="2880360"/>
            <a:ext cx="4069080" cy="3675888"/>
          </a:xfrm>
          <a:prstGeom prst="rect">
            <a:avLst/>
          </a:prstGeom>
          <a:solidFill>
            <a:srgbClr val="FAF7F2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955280" y="2880360"/>
            <a:ext cx="54864" cy="367588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065008" y="2935224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HIGHLIGHTS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8065008" y="3200400"/>
            <a:ext cx="388620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loan book: $12,156,790.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Tanzania has the largest loan book ($5,610,176).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Default Rates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January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Year to Date Chronic Rates (P+I) – January 2026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868680"/>
          <a:ext cx="118872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743200"/>
                <a:gridCol w="2743200"/>
                <a:gridCol w="32004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Country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Chronic Rate – Prior Month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Chronic Rate – Month Under Review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Trend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Sierra Leone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Tanzania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Kenya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Uganda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Nigeria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GROUP TOTAL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Default Rates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January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 30 – January 2026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868680"/>
          <a:ext cx="118872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743200"/>
                <a:gridCol w="2743200"/>
                <a:gridCol w="32004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Country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 30 – Prior Month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 30 – Month Under Review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Trend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Sierra Leone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Kenya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Tanzania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Nigeria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Uganda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GROUP TOTAL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Summary Financial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January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Income &amp; Expenses (USD) – January 2026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868680"/>
          <a:ext cx="118872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1645920"/>
                <a:gridCol w="1645920"/>
                <a:gridCol w="1645920"/>
                <a:gridCol w="1234440"/>
                <a:gridCol w="18745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Country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Revenue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Provision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Opex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Operating Income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Op. Margin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Prior Month OI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Tanzania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$871,059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$-147,088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$-495,207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$228,764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$-334,214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Kenya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$615,703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$-70,862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$-382,270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$162,571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Sierra Leone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$183,186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$-7,306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$-120,605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$55,275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$-59,801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Uganda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$148,399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$-70,540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$-140,209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$-62,350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-42.0%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$-113,329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Nigeria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$67,009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$-34,270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$-102,159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$-69,419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-103.6%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GROUP TOTAL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$1,885,356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$-330,066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$-1,240,449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$314,841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$-507,344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137160" y="437083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= Interest Income + Processing Fees  |  Opex includes Interest Expense  |  Figures in USD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137160" y="4681728"/>
            <a:ext cx="38404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137160" y="4681728"/>
            <a:ext cx="38404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7160" y="4773168"/>
            <a:ext cx="3840480" cy="9454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$1,885,356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182880" y="5713171"/>
            <a:ext cx="3749040" cy="6876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Revenue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160520" y="4681728"/>
            <a:ext cx="38404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160520" y="4681728"/>
            <a:ext cx="38404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60520" y="4773168"/>
            <a:ext cx="3840480" cy="9454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$314,841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4206240" y="5713171"/>
            <a:ext cx="3749040" cy="6876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Operating Income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183880" y="4681728"/>
            <a:ext cx="38404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183880" y="4681728"/>
            <a:ext cx="38404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83880" y="4773168"/>
            <a:ext cx="3840480" cy="9454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16.7%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8229600" y="5713171"/>
            <a:ext cx="3749040" cy="6876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Margin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Operating Expenses – Staff Cost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January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Average Staff Cost Per Team by Country (USD) – January 2026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37160" y="841248"/>
          <a:ext cx="1188720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0" y="5641848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5641848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" y="5641848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in Cost per Team vs Prior 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" y="59436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514600" y="59436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-25.8%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92040" y="59436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-59.2%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269480" y="59436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-66.8%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646920" y="59436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Operating Expenses – Fuel Cost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January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Average Fuel Cost Per Team by Country (USD) – January 2026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37160" y="841248"/>
          <a:ext cx="118872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0" y="5184648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5184648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" y="5184648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in Cost per Team vs Prior 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51460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-75.4%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9204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-27.3%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26948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64692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-31.6%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0" y="5897880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0" y="589788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9728" y="5897880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in Disb per Team vs Prior Month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3716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251460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89204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26948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964692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Operating Expenses – Vehicle Maintenance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January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Average Vehicle Maintenance Per Team by Country (USD) – January 2026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37160" y="841248"/>
          <a:ext cx="118872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0" y="5184648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5184648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" y="5184648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in Cost per Team vs Prior 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-66.1%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51460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9204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+21.1%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26948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-61.5%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64692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0" y="5897880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0" y="589788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9728" y="5897880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in Disb per Team vs Prior Month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3716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251460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89204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26948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964692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Oya Group Monthly Review — January 2026</dc:title>
  <dc:subject>PptxGenJS Presentation</dc:subject>
  <dc:creator>Oya Microcredit</dc:creator>
  <cp:lastModifiedBy>Oya Microcredit</cp:lastModifiedBy>
  <cp:revision>1</cp:revision>
  <dcterms:created xsi:type="dcterms:W3CDTF">2026-10-06T02:50:30Z</dcterms:created>
  <dcterms:modified xsi:type="dcterms:W3CDTF">2026-10-06T02:50:30Z</dcterms:modified>
</cp:coreProperties>
</file>