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7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103</c:v>
                </c:pt>
                <c:pt idx="1">
                  <c:v>111</c:v>
                </c:pt>
                <c:pt idx="2">
                  <c:v>45</c:v>
                </c:pt>
                <c:pt idx="3">
                  <c:v>57</c:v>
                </c:pt>
                <c:pt idx="4">
                  <c:v>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0.96448</c:v>
                </c:pt>
                <c:pt idx="1">
                  <c:v>0.891081</c:v>
                </c:pt>
                <c:pt idx="2">
                  <c:v>0.885795</c:v>
                </c:pt>
                <c:pt idx="3">
                  <c:v>0.831038</c:v>
                </c:pt>
                <c:pt idx="4">
                  <c:v>0.618565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2069728.877</c:v>
                </c:pt>
                <c:pt idx="1">
                  <c:v>1080878.933</c:v>
                </c:pt>
                <c:pt idx="2">
                  <c:v>210518.4175</c:v>
                </c:pt>
                <c:pt idx="3">
                  <c:v>493834.2037</c:v>
                </c:pt>
                <c:pt idx="4">
                  <c:v>83007.24638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209.932942</c:v>
                </c:pt>
                <c:pt idx="1">
                  <c:v>218.315276</c:v>
                </c:pt>
                <c:pt idx="2">
                  <c:v>233.132245</c:v>
                </c:pt>
                <c:pt idx="3">
                  <c:v>423.165556</c:v>
                </c:pt>
                <c:pt idx="4">
                  <c:v>226.795755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219</c:v>
                </c:pt>
                <c:pt idx="1">
                  <c:v>134</c:v>
                </c:pt>
                <c:pt idx="2">
                  <c:v>41</c:v>
                </c:pt>
                <c:pt idx="3">
                  <c:v>39</c:v>
                </c:pt>
                <c:pt idx="4">
                  <c:v>23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5610175.933</c:v>
                </c:pt>
                <c:pt idx="1">
                  <c:v>3784306.511</c:v>
                </c:pt>
                <c:pt idx="2">
                  <c:v>1124088.812</c:v>
                </c:pt>
                <c:pt idx="3">
                  <c:v>1169213.148</c:v>
                </c:pt>
                <c:pt idx="4">
                  <c:v>469005.4218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1249</c:v>
                </c:pt>
                <c:pt idx="1">
                  <c:v>1447</c:v>
                </c:pt>
                <c:pt idx="2">
                  <c:v>1073</c:v>
                </c:pt>
                <c:pt idx="3">
                  <c:v>758</c:v>
                </c:pt>
                <c:pt idx="4">
                  <c:v>338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47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288</c:v>
                </c:pt>
                <c:pt idx="1">
                  <c:v>173</c:v>
                </c:pt>
                <c:pt idx="2">
                  <c:v>88</c:v>
                </c:pt>
                <c:pt idx="3">
                  <c:v>141</c:v>
                </c:pt>
                <c:pt idx="4">
                  <c:v>53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60</c:v>
                </c:pt>
                <c:pt idx="1">
                  <c:v>23</c:v>
                </c:pt>
                <c:pt idx="2">
                  <c:v>23</c:v>
                </c:pt>
                <c:pt idx="3">
                  <c:v>21</c:v>
                </c:pt>
                <c:pt idx="4">
                  <c:v>68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D30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FF9D9"/>
          </a:solidFill>
          <a:ln w="12700">
            <a:solidFill>
              <a:srgbClr val="FFF9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0"/>
            <a:ext cx="54864" cy="6858000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-1371600"/>
            <a:ext cx="6400800" cy="6400800"/>
          </a:xfrm>
          <a:prstGeom prst="ellipse">
            <a:avLst/>
          </a:prstGeom>
          <a:solidFill>
            <a:srgbClr val="FFF9D9">
              <a:alpha val="8000"/>
            </a:srgbClr>
          </a:solidFill>
          <a:ln w="12700">
            <a:solidFill>
              <a:srgbClr val="FFF9D9">
                <a:alpha val="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9728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8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600" kern="0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MICROCREDIT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548640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MONTHLY PERFORMANCE REVIEW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JANUARY 2026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Prepared: March 13, 2026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828800" y="612648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 ·  Kenya  ·  Uganda  ·  Sierra Leone  ·  Nigeria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Applications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Number of Applications Per Team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30,291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Applications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87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total: 30,291 applications.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 had the highest avg applications per team (111).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Assessment Efficiency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Approval Rate (%) Per Country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27,600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Approvals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91.1%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Approval Rate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7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 approvals: 27,600.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approval rate (96.4%).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Trend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Total Disbursements Per Country (USD)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$3,937,968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50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Disb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971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3063240"/>
            <a:ext cx="4069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1071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794760"/>
            <a:ext cx="406908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79476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3794760"/>
            <a:ext cx="3959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Number of Teams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7955280" y="4133088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955280" y="4133088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7955280" y="438912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139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9308592" y="4133088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9308592" y="4133088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</a:t>
            </a:r>
            <a:endParaRPr lang="en-US" sz="1200" dirty="0"/>
          </a:p>
        </p:txBody>
      </p:sp>
      <p:sp>
        <p:nvSpPr>
          <p:cNvPr id="40" name="Text 37"/>
          <p:cNvSpPr/>
          <p:nvPr/>
        </p:nvSpPr>
        <p:spPr>
          <a:xfrm>
            <a:off x="9308592" y="438912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10661904" y="4133088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661904" y="4133088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</a:t>
            </a:r>
            <a:endParaRPr lang="en-US" sz="1200" dirty="0"/>
          </a:p>
        </p:txBody>
      </p:sp>
      <p:sp>
        <p:nvSpPr>
          <p:cNvPr id="43" name="Text 40"/>
          <p:cNvSpPr/>
          <p:nvPr/>
        </p:nvSpPr>
        <p:spPr>
          <a:xfrm>
            <a:off x="10661904" y="438912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39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7955280" y="4791456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955280" y="479145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Sierra Leone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7955280" y="5047488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33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9308592" y="4791456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9308592" y="479145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9308592" y="5047488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36</a:t>
            </a:r>
            <a:endParaRPr lang="en-US" sz="1200" dirty="0"/>
          </a:p>
        </p:txBody>
      </p:sp>
      <p:sp>
        <p:nvSpPr>
          <p:cNvPr id="50" name="Shape 47"/>
          <p:cNvSpPr/>
          <p:nvPr/>
        </p:nvSpPr>
        <p:spPr>
          <a:xfrm>
            <a:off x="7955280" y="5577840"/>
            <a:ext cx="4069080" cy="9784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955280" y="5577840"/>
            <a:ext cx="54864" cy="9784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8065008" y="56327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065008" y="5897880"/>
            <a:ext cx="38862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disbursed: $3,937,968.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disbursements ($2,069,729).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Stats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Loan Size (USD) – January 2026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539496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81928" y="539496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Disbursements Per Team – January 2026</a:t>
            </a:r>
            <a:endParaRPr lang="en-US" sz="1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13716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Chart 1" descr=""/>
          <p:cNvGraphicFramePr/>
          <p:nvPr/>
        </p:nvGraphicFramePr>
        <p:xfrm>
          <a:off x="617220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0" y="5577840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09728" y="5577840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3716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29844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245973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362102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78231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172200" y="5577840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281928" y="5577840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617220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733348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849477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965606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081735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Size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– P+I Outstanding (≤60 Days Overdue)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$12,156,790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367588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880360"/>
            <a:ext cx="54864" cy="367588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3522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00400"/>
            <a:ext cx="388620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book: $12,156,790.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has the largest loan book ($5,610,176).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Year to Date Chronic Rates (P+I) – January 2026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180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 30 – January 2026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180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Summary Financial Results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Income &amp; Expenses (USD) – January 2026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645920"/>
                <a:gridCol w="1645920"/>
                <a:gridCol w="1645920"/>
                <a:gridCol w="1234440"/>
                <a:gridCol w="18745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Revenue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Provision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Opex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Operating Income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Op. Margin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Prior Month OI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$871,059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$-147,088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$-495,207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$228,764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$-334,214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$615,703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$-70,862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$-382,270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$162,571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$148,399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$-70,540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$-140,209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$-62,350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$-113,329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$183,186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$-7,306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$-120,605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$55,275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$-59,801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$67,009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$-34,270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$-102,159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$-69,419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-103.6%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$1,885,356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$-330,066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$-1,240,449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$314,841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$-507,344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137160" y="4370832"/>
            <a:ext cx="1188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= Interest Income + Processing Fees  |  Opex includes Interest Expense  |  Figures in USD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3716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13716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716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$1,885,356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18288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Revenue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16052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16052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6052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$314,841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420624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Operating Income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18388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8388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8388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16.7%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822960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Margin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Staff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Staff Cost Per Team by Country (USD)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-66.8%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-59.2%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-25.8%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Fuel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Fuel Cost Per Team by Country (USD)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-31.6%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-75.4%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-27.3%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Vehicle Maintenance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Vehicle Maintenance Per Team by Country (USD)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-61.5%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+21.1%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-66.1%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Oya Group Monthly Review — January 2026</dc:title>
  <dc:subject>PptxGenJS Presentation</dc:subject>
  <dc:creator>Oya Microcredit</dc:creator>
  <cp:lastModifiedBy>Oya Microcredit</cp:lastModifiedBy>
  <cp:revision>1</cp:revision>
  <dcterms:created xsi:type="dcterms:W3CDTF">2026-03-13T16:45:54Z</dcterms:created>
  <dcterms:modified xsi:type="dcterms:W3CDTF">2026-03-13T16:45:54Z</dcterms:modified>
</cp:coreProperties>
</file>