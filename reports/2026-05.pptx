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Tanzania</c:v>
                  </c:pt>
                  <c:pt idx="2">
                    <c:v>Kenya</c:v>
                  </c:pt>
                  <c:pt idx="3">
                    <c:v>Nigeria</c:v>
                  </c:pt>
                  <c:pt idx="4">
                    <c:v>Sierra Leone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</c:v>
                </c:pt>
                <c:pt idx="1">
                  <c:v>72</c:v>
                </c:pt>
                <c:pt idx="2">
                  <c:v>67</c:v>
                </c:pt>
                <c:pt idx="3">
                  <c:v>56</c:v>
                </c:pt>
                <c:pt idx="4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Nigeria</c:v>
                  </c:pt>
                  <c:pt idx="1">
                    <c:v>Sierra Leone</c:v>
                  </c:pt>
                  <c:pt idx="2">
                    <c:v>Kenya</c:v>
                  </c:pt>
                  <c:pt idx="3">
                    <c:v>Tanzania</c:v>
                  </c:pt>
                  <c:pt idx="4">
                    <c:v>Uganda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0.868791</c:v>
                </c:pt>
                <c:pt idx="1">
                  <c:v>0.855556</c:v>
                </c:pt>
                <c:pt idx="2">
                  <c:v>0.84855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1990982.394</c:v>
                </c:pt>
                <c:pt idx="1">
                  <c:v>1700092.707</c:v>
                </c:pt>
                <c:pt idx="2">
                  <c:v>590810.7347</c:v>
                </c:pt>
                <c:pt idx="3">
                  <c:v>584703.0753</c:v>
                </c:pt>
                <c:pt idx="4">
                  <c:v>141861.3139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238.127305</c:v>
                </c:pt>
                <c:pt idx="1">
                  <c:v>269.002011</c:v>
                </c:pt>
                <c:pt idx="2">
                  <c:v>523.30446</c:v>
                </c:pt>
                <c:pt idx="3">
                  <c:v>221.478438</c:v>
                </c:pt>
                <c:pt idx="4">
                  <c:v>173.849649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105</c:v>
                </c:pt>
                <c:pt idx="1">
                  <c:v>87</c:v>
                </c:pt>
                <c:pt idx="2">
                  <c:v>21</c:v>
                </c:pt>
                <c:pt idx="3">
                  <c:v>61</c:v>
                </c:pt>
                <c:pt idx="4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Uganda</c:v>
                  </c:pt>
                  <c:pt idx="3">
                    <c:v>Sierra Leone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Uganda</c:v>
                  </c:pt>
                  <c:pt idx="3">
                    <c:v>Sierra Leone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5710304.624</c:v>
                </c:pt>
                <c:pt idx="1">
                  <c:v>3973010.654</c:v>
                </c:pt>
                <c:pt idx="2">
                  <c:v>1443490.491</c:v>
                </c:pt>
                <c:pt idx="3">
                  <c:v>1302477.02</c:v>
                </c:pt>
                <c:pt idx="4">
                  <c:v>391474.2133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Nigeria</c:v>
                  </c:pt>
                  <c:pt idx="1">
                    <c:v>Sierra Leone</c:v>
                  </c:pt>
                  <c:pt idx="2">
                    <c:v>Uganda</c:v>
                  </c:pt>
                  <c:pt idx="3">
                    <c:v>Tanzania</c:v>
                  </c:pt>
                  <c:pt idx="4">
                    <c:v>Kenya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733</c:v>
                </c:pt>
                <c:pt idx="1">
                  <c:v>896</c:v>
                </c:pt>
                <c:pt idx="2">
                  <c:v>1140</c:v>
                </c:pt>
                <c:pt idx="3">
                  <c:v>1313</c:v>
                </c:pt>
                <c:pt idx="4">
                  <c:v>1429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47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Sierra Leone</c:v>
                  </c:pt>
                  <c:pt idx="2">
                    <c:v>Nigeria</c:v>
                  </c:pt>
                  <c:pt idx="3">
                    <c:v>Kenya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162</c:v>
                </c:pt>
                <c:pt idx="2">
                  <c:v>179</c:v>
                </c:pt>
                <c:pt idx="3">
                  <c:v>191</c:v>
                </c:pt>
                <c:pt idx="4">
                  <c:v>312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Sierra Leone</c:v>
                  </c:pt>
                  <c:pt idx="2">
                    <c:v>Kenya</c:v>
                  </c:pt>
                  <c:pt idx="3">
                    <c:v>Tanzania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13</c:v>
                </c:pt>
                <c:pt idx="2">
                  <c:v>53</c:v>
                </c:pt>
                <c:pt idx="3">
                  <c:v>74</c:v>
                </c:pt>
                <c:pt idx="4">
                  <c:v>109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4.xml"/><Relationship Id="rId2" Type="http://schemas.openxmlformats.org/officeDocument/2006/relationships/chart" Target="/ppt/charts/chart3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D3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F9D9"/>
          </a:solidFill>
          <a:ln w="12700">
            <a:solidFill>
              <a:srgbClr val="FFF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54864" cy="6858000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6400800" cy="6400800"/>
          </a:xfrm>
          <a:prstGeom prst="ellipse">
            <a:avLst/>
          </a:prstGeom>
          <a:solidFill>
            <a:srgbClr val="FFF9D9">
              <a:alpha val="8000"/>
            </a:srgbClr>
          </a:solidFill>
          <a:ln w="12700">
            <a:solidFill>
              <a:srgbClr val="FFF9D9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600" kern="0" dirty="0">
                <a:solidFill>
                  <a:srgbClr val="C495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MICROCREDIT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548640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MONTHLY PERFORMANCE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5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MAY 2026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Prepared: October 6,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6126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 ·  Kenya  ·  Uganda  ·  Sierra Leone  ·  Nigeria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Applications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Number of Applications Per Team – May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-1.4%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-14.3%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-2.9%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+93.1%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-6.4%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22,759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67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per Team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88036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97180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-2.9%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838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977640"/>
            <a:ext cx="4069080" cy="257860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977640"/>
            <a:ext cx="54864" cy="2578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65008" y="4297680"/>
            <a:ext cx="388620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total: 22,759 applications (-5.3%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 had the highest avg applications per team (73).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Assessment Efficiency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Approval Rate (%) Per Country – May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8,479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Approvals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37.3%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Approval Rate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88036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97180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↓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838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977640"/>
            <a:ext cx="4069080" cy="257860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977640"/>
            <a:ext cx="54864" cy="2578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65008" y="4297680"/>
            <a:ext cx="388620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total approvals: 8,479.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had the highest approval rate (86.9%).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Disbursement Trend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Disbursements Per Country (USD) – May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-22.8%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-11.9%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+9.6%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-20.3%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$5,008,450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 (USD)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828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828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920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-11.0%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459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971800"/>
            <a:ext cx="4069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971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306324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57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1071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Disb per Team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703320"/>
            <a:ext cx="406908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70332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370332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Number of Teams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955280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0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955280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139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308592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08592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308592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111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10661904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661904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Leone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0661904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33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955280" y="461772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955280" y="4617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955280" y="4855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38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9308592" y="461772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308592" y="4617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308592" y="4855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955280" y="5321808"/>
            <a:ext cx="4069080" cy="960120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955280" y="5321808"/>
            <a:ext cx="54864" cy="9601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65008" y="537667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8065008" y="564184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disbursed: $5,008,450 (-11.0%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had the highest disbursements ($1,990,982).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Disbursement Stats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59893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5879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Loan Size (USD) – May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539496"/>
            <a:ext cx="585216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539496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Disbursements Per Team – May 2026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137160" y="841248"/>
          <a:ext cx="5806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Chart 1" descr=""/>
          <p:cNvGraphicFramePr/>
          <p:nvPr/>
        </p:nvGraphicFramePr>
        <p:xfrm>
          <a:off x="6172200" y="841248"/>
          <a:ext cx="5806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0" y="5577840"/>
            <a:ext cx="59893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9728" y="5577840"/>
            <a:ext cx="5879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37160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+2.7%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298448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-7.2%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459736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+14.5%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621024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+4.3%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782312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+2.4%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72200" y="5577840"/>
            <a:ext cx="585216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7220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81928" y="5577840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172200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-25.5%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333488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+14.5%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494776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-19.2%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656064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-10.3%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0817352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-31.8%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Turnaround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Days from Application to Disbursement – May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days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Turnaround Time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828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828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920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↓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459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971800"/>
            <a:ext cx="4069080" cy="358444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2971800"/>
            <a:ext cx="54864" cy="358444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302666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65008" y="3291840"/>
            <a:ext cx="3886200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turnaround: 2 days.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Fastest: Tanzania (2 days). Slowest: Nigeria (4 days).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Book Size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Book – P+I Outstanding (≤60 Days Overdue) – May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-12.5%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-1.8%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-4.8%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-8.1%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$12,820,757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 (USD)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-6.8%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367588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2880360"/>
            <a:ext cx="54864" cy="367588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293522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65008" y="3200400"/>
            <a:ext cx="388620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book: $12,820,757 (-6.8%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has the largest loan book ($5,710,305).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 to Date Chronic Rates (P+I) – May 2026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Chronic Rate – Prior Month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Chronic Rate – Month Under Review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 30 – May 2026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30 – Prior Month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30 – Month Under Review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Summary Financial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Income &amp; Expenses (USD) – May 2026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  <a:gridCol w="1645920"/>
                <a:gridCol w="1645920"/>
                <a:gridCol w="123444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Revenue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Provision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Operating Income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Op. Margin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Prior Month OI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$883,385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$-268,964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$-429,280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$185,140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$246,889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$217,498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$-9,296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$-134,282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$73,921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$87,087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$616,805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$-129,637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$-457,120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$149,375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$188,225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$-52,404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$-139,826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$-4,005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$-23,337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$54,267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$-21,160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$-90,331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$-57,225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-105.5%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$-56,151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$1,960,179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$-481,461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$-1,250,839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$227,879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$403,864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37160" y="437083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Interest Income + Processing Fees  |  Opex includes Interest Expense  |  Figures in USD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3716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3716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$1,960,179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8288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Revenue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6052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6052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$227,879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420624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Operating Income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8388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8388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11.6%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822960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Margin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Staff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Staff Cost Per Team by Country (USD) – May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6418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6418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6418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+2.2%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+5.4%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-7.0%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+8.6%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+8.9%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Fuel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Fuel Cost Per Team by Country (USD) – May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1846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1846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1846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-14.4%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+27.6%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+7.8%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+1.6%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+11.0%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5897880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589788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" y="5897880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Disb per Team vs Prior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-10.3%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-19.2%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-31.8%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+14.5%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4692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-25.5%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Vehicle Maintenance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Vehicle Maintenance Per Team by Country (USD) – May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1846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1846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1846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-12.5%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-35.0%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+39.5%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+17.5%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+75.8%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5897880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589788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" y="5897880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Disb per Team vs Prior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-10.3%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-19.2%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+14.5%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-25.5%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4692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-31.8%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Oya Group Monthly Review — May 2026</dc:title>
  <dc:subject>PptxGenJS Presentation</dc:subject>
  <dc:creator>Oya Microcredit</dc:creator>
  <cp:lastModifiedBy>Oya Microcredit</cp:lastModifiedBy>
  <cp:revision>1</cp:revision>
  <dcterms:created xsi:type="dcterms:W3CDTF">2026-10-06T02:50:30Z</dcterms:created>
  <dcterms:modified xsi:type="dcterms:W3CDTF">2026-10-06T02:50:30Z</dcterms:modified>
</cp:coreProperties>
</file>