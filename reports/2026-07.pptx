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7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9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0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Tanzania</c:v>
                  </c:pt>
                  <c:pt idx="2">
                    <c:v>Kenya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76</c:v>
                </c:pt>
                <c:pt idx="1">
                  <c:v>72</c:v>
                </c:pt>
                <c:pt idx="2">
                  <c:v>68</c:v>
                </c:pt>
                <c:pt idx="3">
                  <c:v>47</c:v>
                </c:pt>
                <c:pt idx="4">
                  <c:v>45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Uganda</c:v>
                  </c:pt>
                  <c:pt idx="2">
                    <c:v>Kenya</c:v>
                  </c:pt>
                  <c:pt idx="3">
                    <c:v>Sierra Leone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0.965821</c:v>
                </c:pt>
                <c:pt idx="1">
                  <c:v>0.932851</c:v>
                </c:pt>
                <c:pt idx="2">
                  <c:v>0.922385</c:v>
                </c:pt>
                <c:pt idx="3">
                  <c:v>0.720089</c:v>
                </c:pt>
                <c:pt idx="4">
                  <c:v>0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2191848.288</c:v>
                </c:pt>
                <c:pt idx="1">
                  <c:v>1934748.975</c:v>
                </c:pt>
                <c:pt idx="2">
                  <c:v>647524.7959</c:v>
                </c:pt>
                <c:pt idx="3">
                  <c:v>576396.6555</c:v>
                </c:pt>
                <c:pt idx="4">
                  <c:v>157919.708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225.290193</c:v>
                </c:pt>
                <c:pt idx="1">
                  <c:v>277.343603</c:v>
                </c:pt>
                <c:pt idx="2">
                  <c:v>490.549088</c:v>
                </c:pt>
                <c:pt idx="3">
                  <c:v>222.97743</c:v>
                </c:pt>
                <c:pt idx="4">
                  <c:v>186.006723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152</c:v>
                </c:pt>
                <c:pt idx="1">
                  <c:v>87</c:v>
                </c:pt>
                <c:pt idx="2">
                  <c:v>26</c:v>
                </c:pt>
                <c:pt idx="3">
                  <c:v>63</c:v>
                </c:pt>
                <c:pt idx="4">
                  <c:v>42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Nigeria</c:v>
                  </c:pt>
                  <c:pt idx="4">
                    <c:v>Sierra Leone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</c:v>
                </c:pt>
                <c:pt idx="1">
                  <c:v>3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5023684.416</c:v>
                </c:pt>
                <c:pt idx="1">
                  <c:v>4041137.379</c:v>
                </c:pt>
                <c:pt idx="2">
                  <c:v>1412239.874</c:v>
                </c:pt>
                <c:pt idx="3">
                  <c:v>1302464.715</c:v>
                </c:pt>
                <c:pt idx="4">
                  <c:v>359022.5146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Sierra Leone</c:v>
                  </c:pt>
                  <c:pt idx="2">
                    <c:v>Uganda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701</c:v>
                </c:pt>
                <c:pt idx="1">
                  <c:v>838</c:v>
                </c:pt>
                <c:pt idx="2">
                  <c:v>1176</c:v>
                </c:pt>
                <c:pt idx="3">
                  <c:v>1359</c:v>
                </c:pt>
                <c:pt idx="4">
                  <c:v>1511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Nigeria</c:v>
                  </c:pt>
                  <c:pt idx="2">
                    <c:v>Sierra Leone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126</c:v>
                </c:pt>
                <c:pt idx="1">
                  <c:v>151</c:v>
                </c:pt>
                <c:pt idx="2">
                  <c:v>168</c:v>
                </c:pt>
                <c:pt idx="3">
                  <c:v>214</c:v>
                </c:pt>
                <c:pt idx="4">
                  <c:v>348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Sierra Leone</c:v>
                  </c:pt>
                  <c:pt idx="2">
                    <c:v>Nigeria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</c:v>
                </c:pt>
                <c:pt idx="1">
                  <c:v>28</c:v>
                </c:pt>
                <c:pt idx="2">
                  <c:v>28</c:v>
                </c:pt>
                <c:pt idx="3">
                  <c:v>38</c:v>
                </c:pt>
                <c:pt idx="4">
                  <c:v>120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JULY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August 7, 2026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July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July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-2.6%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+2.9%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+1.5%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+9.3%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-8.2%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23,232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67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+1.5%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total: 23,232 applications (+3.3%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 had the highest avg applications per team (76).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July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July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11,855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51.0%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7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↑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 approvals: 11,855.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 had the highest approval rate (96.6%).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July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July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-13.6%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+1.8%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-4.8%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$5,508,438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-3.1%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971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3063240"/>
            <a:ext cx="4069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62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1071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Disb per Team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703320"/>
            <a:ext cx="406908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70332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3703320"/>
            <a:ext cx="3959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7955280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955280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7955280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139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9308592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308592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9308592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112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10661904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61904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10661904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38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7955280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955280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7955280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38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9308592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308592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1100" dirty="0"/>
          </a:p>
        </p:txBody>
      </p:sp>
      <p:sp>
        <p:nvSpPr>
          <p:cNvPr id="49" name="Text 46"/>
          <p:cNvSpPr/>
          <p:nvPr/>
        </p:nvSpPr>
        <p:spPr>
          <a:xfrm>
            <a:off x="9308592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20</a:t>
            </a:r>
            <a:endParaRPr lang="en-US" sz="1100" dirty="0"/>
          </a:p>
        </p:txBody>
      </p:sp>
      <p:sp>
        <p:nvSpPr>
          <p:cNvPr id="50" name="Shape 47"/>
          <p:cNvSpPr/>
          <p:nvPr/>
        </p:nvSpPr>
        <p:spPr>
          <a:xfrm>
            <a:off x="7955280" y="5321808"/>
            <a:ext cx="4069080" cy="960120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955280" y="5321808"/>
            <a:ext cx="54864" cy="9601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065008" y="5376672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065008" y="5641848"/>
            <a:ext cx="3886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disbursed: $5,508,438 (-3.1%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disbursements ($2,191,848).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July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July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July 2026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5577840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5577840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3716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9844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+2.5%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245973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-5.2%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62102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+6.1%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78231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-1.0%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172200" y="5577840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5577840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17220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+4.8%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733348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+8.8%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49477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+13.0%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965606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-4.5%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81735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+5.0%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Turnaround Time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July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Days from Application to Disbursement – July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 days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 Time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039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358444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971800"/>
            <a:ext cx="54864" cy="358444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302666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91840"/>
            <a:ext cx="3886200" cy="3172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turnaround: 3 days.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Fastest: Tanzania (3 days). Slowest: Sierra Leone (5 days).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July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July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-8.8%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+0.7%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-4.4%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+0.1%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-5.9%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$12,138,549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-4.3%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00400"/>
            <a:ext cx="388620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book: $12,138,549 (-4.3%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has the largest loan book ($5,023,684).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July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July 2026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July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July 2026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July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July 2026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$699,034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$-138,753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$-406,980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$153,302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$32,257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$907,231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$-214,692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$-594,579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$97,960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$106,893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$220,904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$-8,146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$-141,549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$71,209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$72,075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$216,401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$-65,401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$-149,026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$1,973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$-9,560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$52,524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$-24,032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$-85,123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$-56,631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-107.8%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$-49,614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$2,096,094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$-451,024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$-1,377,257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$267,813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$152,051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$2,096,094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$267,813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12.8%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July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July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+25.2%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+3.6%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-3.1%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-9.9%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-3.5%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July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July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+8.6%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+7.1%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+12.8%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-8.5%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+25.2%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-4.5%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+5.0%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+13.0%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+8.8%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+4.8%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July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July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-30.8%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+3.7%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-75.0%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-22.4%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+26.3%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-4.5%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+13.0%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+5.0%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+8.8%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+4.8%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July 2026</dc:title>
  <dc:subject>PptxGenJS Presentation</dc:subject>
  <dc:creator>Oya Microcredit</dc:creator>
  <cp:lastModifiedBy>Oya Microcredit</cp:lastModifiedBy>
  <cp:revision>1</cp:revision>
  <dcterms:created xsi:type="dcterms:W3CDTF">2026-08-07T20:09:30Z</dcterms:created>
  <dcterms:modified xsi:type="dcterms:W3CDTF">2026-08-07T20:09:30Z</dcterms:modified>
</cp:coreProperties>
</file>