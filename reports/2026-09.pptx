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8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9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0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Nigeria</c:v>
                  </c:pt>
                  <c:pt idx="3">
                    <c:v>Sierra Leone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</c:v>
                </c:pt>
                <c:pt idx="1">
                  <c:v>67</c:v>
                </c:pt>
                <c:pt idx="2">
                  <c:v>50</c:v>
                </c:pt>
                <c:pt idx="3">
                  <c:v>45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Kenya</c:v>
                  </c:pt>
                  <c:pt idx="1">
                    <c:v>Nigeria</c:v>
                  </c:pt>
                  <c:pt idx="2">
                    <c:v>Sierra Leone</c:v>
                  </c:pt>
                  <c:pt idx="3">
                    <c:v>Tanzania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0.907287</c:v>
                </c:pt>
                <c:pt idx="1">
                  <c:v>0.900424</c:v>
                </c:pt>
                <c:pt idx="2">
                  <c:v>0.729746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Nigeria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2650146.655</c:v>
                </c:pt>
                <c:pt idx="1">
                  <c:v>1831199.383</c:v>
                </c:pt>
                <c:pt idx="2">
                  <c:v>623203.2044</c:v>
                </c:pt>
                <c:pt idx="3">
                  <c:v>161574.6269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Nigeria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220.992883</c:v>
                </c:pt>
                <c:pt idx="1">
                  <c:v>277.749034</c:v>
                </c:pt>
                <c:pt idx="2">
                  <c:v>509.56926</c:v>
                </c:pt>
                <c:pt idx="3">
                  <c:v>204.784064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Nigeria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169</c:v>
                </c:pt>
                <c:pt idx="1">
                  <c:v>87</c:v>
                </c:pt>
                <c:pt idx="2">
                  <c:v>23</c:v>
                </c:pt>
                <c:pt idx="3">
                  <c:v>34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A7A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A7A6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Nigeria</c:v>
                  </c:pt>
                  <c:pt idx="1">
                    <c:v>Tanzania</c:v>
                  </c:pt>
                  <c:pt idx="2">
                    <c:v>Kenya</c:v>
                  </c:pt>
                  <c:pt idx="3">
                    <c:v>Sierra Leone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5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Tanzania</c:v>
                  </c:pt>
                  <c:pt idx="1">
                    <c:v>Kenya</c:v>
                  </c:pt>
                  <c:pt idx="2">
                    <c:v>Sierra Leone</c:v>
                  </c:pt>
                  <c:pt idx="3">
                    <c:v>Nigeria</c:v>
                  </c:pt>
                  <c:pt idx="4">
                    <c:v>Uganda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5353071.217</c:v>
                </c:pt>
                <c:pt idx="1">
                  <c:v>3941601.473</c:v>
                </c:pt>
                <c:pt idx="2">
                  <c:v>1320429.609</c:v>
                </c:pt>
                <c:pt idx="3">
                  <c:v>343133.7595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4A556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4A556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Nigeria</c:v>
                  </c:pt>
                  <c:pt idx="2">
                    <c:v>Sierra Leone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696</c:v>
                </c:pt>
                <c:pt idx="2">
                  <c:v>888</c:v>
                </c:pt>
                <c:pt idx="3">
                  <c:v>1388</c:v>
                </c:pt>
                <c:pt idx="4">
                  <c:v>1571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47A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47A1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Nigeria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111</c:v>
                </c:pt>
                <c:pt idx="2">
                  <c:v>121</c:v>
                </c:pt>
                <c:pt idx="3">
                  <c:v>223</c:v>
                </c:pt>
                <c:pt idx="4">
                  <c:v>322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D2A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39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Uganda</c:v>
                  </c:pt>
                  <c:pt idx="1">
                    <c:v>Sierra Leone</c:v>
                  </c:pt>
                  <c:pt idx="2">
                    <c:v>Nigeria</c:v>
                  </c:pt>
                  <c:pt idx="3">
                    <c:v>Kenya</c:v>
                  </c:pt>
                  <c:pt idx="4">
                    <c:v>Tanzania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34</c:v>
                </c:pt>
                <c:pt idx="2">
                  <c:v>43</c:v>
                </c:pt>
                <c:pt idx="3">
                  <c:v>51</c:v>
                </c:pt>
                <c:pt idx="4">
                  <c:v>104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D2A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2D2A2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D30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FF9D9"/>
          </a:solidFill>
          <a:ln w="12700">
            <a:solidFill>
              <a:srgbClr val="FFF9D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0"/>
            <a:ext cx="54864" cy="6858000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1371600"/>
            <a:ext cx="6400800" cy="6400800"/>
          </a:xfrm>
          <a:prstGeom prst="ellipse">
            <a:avLst/>
          </a:prstGeom>
          <a:solidFill>
            <a:srgbClr val="FFF9D9">
              <a:alpha val="8000"/>
            </a:srgbClr>
          </a:solidFill>
          <a:ln w="12700">
            <a:solidFill>
              <a:srgbClr val="FFF9D9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600" kern="0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MICROCREDIT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548640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MONTHLY PERFORMANCE REVIEW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5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SEPTEMBER 2026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4297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Prepared: October 9,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61264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0E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 ·  Kenya  ·  Uganda  ·  Sierra Leone  ·  Nigeria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Number of Applications Per Team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+27.5%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-4.3%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22,247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73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per Team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+12.3%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total: 22,247 applications (+12.1%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avg applications per team (88).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Assessment Efficiency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Approval Rate (%) Per Country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8,731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Approvals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39.2%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Approval Rate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88036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297180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↓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8386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977640"/>
            <a:ext cx="4069080" cy="257860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977640"/>
            <a:ext cx="54864" cy="2578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403250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8065008" y="4297680"/>
            <a:ext cx="3886200" cy="2167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total approvals: 8,731.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had the highest approval rate (90.7%).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Trend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Total Disbursements Per Country (USD)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+25.8%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-2.2%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+12.0%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$5,266,124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+11.4%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55280" y="2971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955280" y="3063240"/>
            <a:ext cx="4069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68</a:t>
            </a:r>
            <a:endParaRPr lang="en-US" sz="2600" dirty="0"/>
          </a:p>
        </p:txBody>
      </p:sp>
      <p:sp>
        <p:nvSpPr>
          <p:cNvPr id="31" name="Text 28"/>
          <p:cNvSpPr/>
          <p:nvPr/>
        </p:nvSpPr>
        <p:spPr>
          <a:xfrm>
            <a:off x="8001000" y="3410712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Disb per Team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7955280" y="3703320"/>
            <a:ext cx="406908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7955280" y="370332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065008" y="3703320"/>
            <a:ext cx="3959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Number of Teams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7955280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955280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955280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139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308592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308592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9308592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110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10661904" y="402336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661904" y="402336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0661904" y="426110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37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955280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7955280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7955280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19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9308592" y="4617720"/>
            <a:ext cx="1234440" cy="530352"/>
          </a:xfrm>
          <a:prstGeom prst="rect">
            <a:avLst/>
          </a:prstGeom>
          <a:solidFill>
            <a:srgbClr val="FFF9D9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308592" y="4617720"/>
            <a:ext cx="1234440" cy="23774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Uganda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9308592" y="4855464"/>
            <a:ext cx="1234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—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955280" y="5321808"/>
            <a:ext cx="4069080" cy="960120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955280" y="5321808"/>
            <a:ext cx="54864" cy="9601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065008" y="5376672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53" name="Text 50"/>
          <p:cNvSpPr/>
          <p:nvPr/>
        </p:nvSpPr>
        <p:spPr>
          <a:xfrm>
            <a:off x="8065008" y="564184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disbursed: $5,266,124 (+11.4%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had the highest disbursements ($2,650,147).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Disbursement Stats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Loan Size (USD) – September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539496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1928" y="539496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Disbursements Per Team – September 2026</a:t>
            </a:r>
            <a:endParaRPr lang="en-US" sz="1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13716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Chart 1" descr=""/>
          <p:cNvGraphicFramePr/>
          <p:nvPr/>
        </p:nvGraphicFramePr>
        <p:xfrm>
          <a:off x="6172200" y="841248"/>
          <a:ext cx="580644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6" name="Shape 12"/>
          <p:cNvSpPr/>
          <p:nvPr/>
        </p:nvSpPr>
        <p:spPr>
          <a:xfrm>
            <a:off x="0" y="5577840"/>
            <a:ext cx="59893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" y="5577840"/>
            <a:ext cx="5879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3716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-0.4%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129844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+2.9%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45973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+1.1%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362102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78231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6172200" y="5577840"/>
            <a:ext cx="585216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17220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281928" y="557784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6172200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+37.4%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7333488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494776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+4.5%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9656064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-10.5%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0817352" y="5925312"/>
            <a:ext cx="11612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Turnaround Time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Avg Days from Application to Disbursement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 days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316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 Time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828800"/>
            <a:ext cx="40690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828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920240"/>
            <a:ext cx="4069080" cy="5783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039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↑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459736"/>
            <a:ext cx="3977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971800"/>
            <a:ext cx="4069080" cy="358444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971800"/>
            <a:ext cx="54864" cy="358444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302666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91840"/>
            <a:ext cx="3886200" cy="3172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avg turnaround: 4 days.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Fastest: Nigeria (2 days). Slowest: Sierra Leone (5 days).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Size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Loan Book – P+I Outstanding (≤60 Days Overdue)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758952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577840"/>
            <a:ext cx="777240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57784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577840"/>
            <a:ext cx="7662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from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+18.7%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55064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-5.5%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3172968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-0.2%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90872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+0.4%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08776" y="5925312"/>
            <a:ext cx="15179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955280" y="68580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955280" y="68580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955280" y="77724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$10,958,236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8001000" y="128930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 (USD)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955280" y="1783080"/>
            <a:ext cx="4069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955280" y="1783080"/>
            <a:ext cx="40690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55280" y="1874520"/>
            <a:ext cx="4069080" cy="5532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+5.9%</a:t>
            </a:r>
            <a:endParaRPr lang="en-US" sz="2600" dirty="0"/>
          </a:p>
        </p:txBody>
      </p:sp>
      <p:sp>
        <p:nvSpPr>
          <p:cNvPr id="27" name="Text 24"/>
          <p:cNvSpPr/>
          <p:nvPr/>
        </p:nvSpPr>
        <p:spPr>
          <a:xfrm>
            <a:off x="8001000" y="2386584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vs Prior Month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55280" y="2880360"/>
            <a:ext cx="4069080" cy="3675888"/>
          </a:xfrm>
          <a:prstGeom prst="rect">
            <a:avLst/>
          </a:prstGeom>
          <a:solidFill>
            <a:srgbClr val="FAF7F2"/>
          </a:solidFill>
          <a:ln w="12700">
            <a:solidFill>
              <a:srgbClr val="D6CFC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55280" y="2880360"/>
            <a:ext cx="54864" cy="367588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065008" y="2935224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KEY HIGHLIGHTS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065008" y="3200400"/>
            <a:ext cx="388620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loan book: $10,958,236 (+5.9% vs prior month).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Tanzania has the largest loan book ($5,353,071).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Year to Date Chronic Rates (P+I) – September 2026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Chronic Rate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Default Rates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 30 – September 2026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7432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Prior Month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 30 – Month Under Review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Trend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↑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A7A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Summary Financial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Income &amp; Expenses (USD) – September 2026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868680"/>
          <a:ext cx="118872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645920"/>
                <a:gridCol w="1645920"/>
                <a:gridCol w="1645920"/>
                <a:gridCol w="1645920"/>
                <a:gridCol w="1234440"/>
                <a:gridCol w="1874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Country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Revenue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Opex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Operating Income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Op. Margin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9D9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 Month OI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300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Tanzania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$900,076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$-141,746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$-561,501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$196,829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$63,382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Kenya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$683,264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$-137,236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$-460,111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$85,917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$81,529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Sierra Leone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$212,862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$-9,694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$-138,478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$64,691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$71,544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2D2A26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Nigeria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$52,700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$-10,788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2A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$-80,219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$-38,306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-72.7%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$-56,864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GROUP TOTAL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$1,848,903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$-299,464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$-1,240,308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$309,131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300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$159,590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CF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D9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37160" y="4370832"/>
            <a:ext cx="1188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= Interest Income + Processing Fees  |  Opex includes Interest Expense  |  Figures in USD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3716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13716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$1,848,903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8288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Revenue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16052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16052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$309,131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420624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Operating Income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83880" y="4681728"/>
            <a:ext cx="3840480" cy="17190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FC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8183880" y="4681728"/>
            <a:ext cx="3840480" cy="457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183880" y="4773168"/>
            <a:ext cx="3840480" cy="9454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16.7%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8229600" y="5713171"/>
            <a:ext cx="3749040" cy="68762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Margin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Staff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Staff Cost Per Team by Country (USD)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6418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6418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6418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+13.4%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+3.6%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-2.1%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9436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-1.0%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Fuel Cost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Fuel Cost Per Team by Country (USD)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-37.6%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-35.3%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-11.9%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-14.1%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+37.4%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1152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9D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Operating Expenses – Vehicle Maintenance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502920"/>
            <a:ext cx="12161520" cy="36576"/>
          </a:xfrm>
          <a:prstGeom prst="rect">
            <a:avLst/>
          </a:prstGeom>
          <a:solidFill>
            <a:srgbClr val="C4956A"/>
          </a:solidFill>
          <a:ln w="12700">
            <a:solidFill>
              <a:srgbClr val="C495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OYA MICROCREDIT  |  September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9875520" y="6565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0E0B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CONFIDENTIAL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0" y="539496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39496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" y="539496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Average Vehicle Maintenance Per Team by Country (USD) – September 2026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137160" y="841248"/>
          <a:ext cx="11887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0" y="5184648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0" y="5184648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" y="5184648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Cost per Team vs Prior Month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3716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+61.9%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9204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-15.7%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6948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+8.5%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9646920" y="54864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-16.8%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5897880"/>
            <a:ext cx="12161520" cy="292608"/>
          </a:xfrm>
          <a:prstGeom prst="rect">
            <a:avLst/>
          </a:prstGeom>
          <a:solidFill>
            <a:srgbClr val="FFF9D9"/>
          </a:solidFill>
          <a:ln w="12700">
            <a:solidFill>
              <a:srgbClr val="F0E0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0" y="5897880"/>
            <a:ext cx="54864" cy="292608"/>
          </a:xfrm>
          <a:prstGeom prst="rect">
            <a:avLst/>
          </a:prstGeom>
          <a:solidFill>
            <a:srgbClr val="5D300F"/>
          </a:solidFill>
          <a:ln w="12700">
            <a:solidFill>
              <a:srgbClr val="5D300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9728" y="5897880"/>
            <a:ext cx="1205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D300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% Change in Disb per Team vs Prior Month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3716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51460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+4.5%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-10.5%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26948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+0.0%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9646920" y="6199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+37.4%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Oya Group Monthly Review — September 2026</dc:title>
  <dc:subject>PptxGenJS Presentation</dc:subject>
  <dc:creator>Oya Microcredit</dc:creator>
  <cp:lastModifiedBy>Oya Microcredit</cp:lastModifiedBy>
  <cp:revision>1</cp:revision>
  <dcterms:created xsi:type="dcterms:W3CDTF">2026-10-09T07:58:01Z</dcterms:created>
  <dcterms:modified xsi:type="dcterms:W3CDTF">2026-10-09T07:58:01Z</dcterms:modified>
</cp:coreProperties>
</file>