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2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3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6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7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8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9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97</c:v>
                </c:pt>
                <c:pt idx="1">
                  <c:v>85</c:v>
                </c:pt>
                <c:pt idx="2">
                  <c:v>75</c:v>
                </c:pt>
                <c:pt idx="3">
                  <c:v>52</c:v>
                </c:pt>
                <c:pt idx="4">
                  <c:v>40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1A7A6E"/>
            </a:solidFill>
            <a:effectLst/>
          </c:spPr>
          <c:invertIfNegative val="0"/>
          <c:dLbls>
            <c:numFmt formatCode="0.0%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0.944763</c:v>
                </c:pt>
                <c:pt idx="1">
                  <c:v>0.933149</c:v>
                </c:pt>
                <c:pt idx="2">
                  <c:v>0.972603</c:v>
                </c:pt>
                <c:pt idx="3">
                  <c:v>0.833138</c:v>
                </c:pt>
                <c:pt idx="4">
                  <c:v>0.633053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1901411.216</c:v>
                </c:pt>
                <c:pt idx="1">
                  <c:v>1255542.636</c:v>
                </c:pt>
                <c:pt idx="2">
                  <c:v>349353.9326</c:v>
                </c:pt>
                <c:pt idx="3">
                  <c:v>548074.3098</c:v>
                </c:pt>
                <c:pt idx="4">
                  <c:v>97814.81481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216.685039</c:v>
                </c:pt>
                <c:pt idx="1">
                  <c:v>224.64531</c:v>
                </c:pt>
                <c:pt idx="2">
                  <c:v>217.937575</c:v>
                </c:pt>
                <c:pt idx="3">
                  <c:v>494.651904</c:v>
                </c:pt>
                <c:pt idx="4">
                  <c:v>171.304404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1A7A6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131</c:v>
                </c:pt>
                <c:pt idx="1">
                  <c:v>114</c:v>
                </c:pt>
                <c:pt idx="2">
                  <c:v>55</c:v>
                </c:pt>
                <c:pt idx="3">
                  <c:v>26</c:v>
                </c:pt>
                <c:pt idx="4">
                  <c:v>41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6318825.621</c:v>
                </c:pt>
                <c:pt idx="1">
                  <c:v>4177694.043</c:v>
                </c:pt>
                <c:pt idx="2">
                  <c:v>1328495.447</c:v>
                </c:pt>
                <c:pt idx="3">
                  <c:v>1332374.784</c:v>
                </c:pt>
                <c:pt idx="4">
                  <c:v>504260.5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2571</c:v>
                </c:pt>
                <c:pt idx="1">
                  <c:v>2973</c:v>
                </c:pt>
                <c:pt idx="2">
                  <c:v>2658</c:v>
                </c:pt>
                <c:pt idx="3">
                  <c:v>1609</c:v>
                </c:pt>
                <c:pt idx="4">
                  <c:v>725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C47A1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455</c:v>
                </c:pt>
                <c:pt idx="1">
                  <c:v>326</c:v>
                </c:pt>
                <c:pt idx="2">
                  <c:v>199</c:v>
                </c:pt>
                <c:pt idx="3">
                  <c:v>291</c:v>
                </c:pt>
                <c:pt idx="4">
                  <c:v>119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43</c:v>
                </c:pt>
                <c:pt idx="1">
                  <c:v>37</c:v>
                </c:pt>
                <c:pt idx="2">
                  <c:v>30</c:v>
                </c:pt>
                <c:pt idx="3">
                  <c:v>6</c:v>
                </c:pt>
                <c:pt idx="4">
                  <c:v>49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chart" Target="/ppt/charts/chart5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5D30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FFF9D9"/>
          </a:solidFill>
          <a:ln w="12700">
            <a:solidFill>
              <a:srgbClr val="FFF9D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11480" y="0"/>
            <a:ext cx="54864" cy="6858000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0" y="-1371600"/>
            <a:ext cx="6400800" cy="6400800"/>
          </a:xfrm>
          <a:prstGeom prst="ellipse">
            <a:avLst/>
          </a:prstGeom>
          <a:solidFill>
            <a:srgbClr val="FFF9D9">
              <a:alpha val="8000"/>
            </a:srgbClr>
          </a:solidFill>
          <a:ln w="12700">
            <a:solidFill>
              <a:srgbClr val="FFF9D9">
                <a:alpha val="8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097280"/>
            <a:ext cx="4572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0" b="1" spc="800" kern="0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731520" y="2286000"/>
            <a:ext cx="6400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spc="600" kern="0" dirty="0">
                <a:solidFill>
                  <a:srgbClr val="C4956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MICROCREDIT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731520" y="3017520"/>
            <a:ext cx="548640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32004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MONTHLY PERFORMANCE REVIEW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31520" y="374904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4956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FEBRUARY 2026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731520" y="42976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0E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Prepared: March 13, 2026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828800" y="6126480"/>
            <a:ext cx="9875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F0E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 ·  Kenya  ·  Uganda  ·  Sierra Leone  ·  Nigeria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Applications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February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Number of Applications Per Team – February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-5.8%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-23.4%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+66.7%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-8.8%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+21.2%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28,147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28930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Applications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78308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78308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87452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81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38658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Avg per Team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88036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7955280" y="288036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955280" y="297180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-6.9%</a:t>
            </a:r>
            <a:endParaRPr lang="en-US" sz="2600" dirty="0"/>
          </a:p>
        </p:txBody>
      </p:sp>
      <p:sp>
        <p:nvSpPr>
          <p:cNvPr id="31" name="Text 28"/>
          <p:cNvSpPr/>
          <p:nvPr/>
        </p:nvSpPr>
        <p:spPr>
          <a:xfrm>
            <a:off x="8001000" y="348386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vs Prior Month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55280" y="3977640"/>
            <a:ext cx="4069080" cy="257860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955280" y="3977640"/>
            <a:ext cx="54864" cy="2578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065008" y="403250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8065008" y="4297680"/>
            <a:ext cx="3886200" cy="2167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total: 28,147 applications.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had the highest avg applications per team (97).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Assessment Efficiency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February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Approval Rate (%) Per Country – February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Trend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25,937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28930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Approvals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78308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78308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87452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92.1%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38658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Approval Rate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88036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7955280" y="288036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955280" y="297180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A7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↑</a:t>
            </a:r>
            <a:endParaRPr lang="en-US" sz="2600" dirty="0"/>
          </a:p>
        </p:txBody>
      </p:sp>
      <p:sp>
        <p:nvSpPr>
          <p:cNvPr id="31" name="Text 28"/>
          <p:cNvSpPr/>
          <p:nvPr/>
        </p:nvSpPr>
        <p:spPr>
          <a:xfrm>
            <a:off x="8001000" y="348386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 vs Prior Month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55280" y="3977640"/>
            <a:ext cx="4069080" cy="257860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955280" y="3977640"/>
            <a:ext cx="54864" cy="2578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065008" y="403250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8065008" y="4297680"/>
            <a:ext cx="3886200" cy="2167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total approvals: 25,937.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Uganda had the highest approval rate (97.3%).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Disbursement Trend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February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Total Disbursements Per Country (USD) – February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-8.1%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+16.2%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+65.9%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+11.0%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+17.8%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78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$4,152,197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31673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Disbursed (USD)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828800"/>
            <a:ext cx="40690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828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920240"/>
            <a:ext cx="4069080" cy="578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51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45973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Disb per Team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971800"/>
            <a:ext cx="406908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7955280" y="2971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955280" y="3063240"/>
            <a:ext cx="40690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—</a:t>
            </a:r>
            <a:endParaRPr lang="en-US" sz="2600" dirty="0"/>
          </a:p>
        </p:txBody>
      </p:sp>
      <p:sp>
        <p:nvSpPr>
          <p:cNvPr id="31" name="Text 28"/>
          <p:cNvSpPr/>
          <p:nvPr/>
        </p:nvSpPr>
        <p:spPr>
          <a:xfrm>
            <a:off x="8001000" y="3410712"/>
            <a:ext cx="3977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vs Prior Month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55280" y="3794760"/>
            <a:ext cx="406908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955280" y="379476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065008" y="3794760"/>
            <a:ext cx="3959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Number of Teams</a:t>
            </a:r>
            <a:endParaRPr lang="en-US" sz="1200" dirty="0"/>
          </a:p>
        </p:txBody>
      </p:sp>
      <p:sp>
        <p:nvSpPr>
          <p:cNvPr id="35" name="Shape 32"/>
          <p:cNvSpPr/>
          <p:nvPr/>
        </p:nvSpPr>
        <p:spPr>
          <a:xfrm>
            <a:off x="7955280" y="4133088"/>
            <a:ext cx="1234440" cy="566928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7955280" y="4133088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</a:t>
            </a:r>
            <a:endParaRPr lang="en-US" sz="1200" dirty="0"/>
          </a:p>
        </p:txBody>
      </p:sp>
      <p:sp>
        <p:nvSpPr>
          <p:cNvPr id="37" name="Text 34"/>
          <p:cNvSpPr/>
          <p:nvPr/>
        </p:nvSpPr>
        <p:spPr>
          <a:xfrm>
            <a:off x="7955280" y="4389120"/>
            <a:ext cx="1234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139</a:t>
            </a:r>
            <a:endParaRPr lang="en-US" sz="1200" dirty="0"/>
          </a:p>
        </p:txBody>
      </p:sp>
      <p:sp>
        <p:nvSpPr>
          <p:cNvPr id="38" name="Shape 35"/>
          <p:cNvSpPr/>
          <p:nvPr/>
        </p:nvSpPr>
        <p:spPr>
          <a:xfrm>
            <a:off x="9308592" y="4133088"/>
            <a:ext cx="1234440" cy="566928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9308592" y="4133088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Kenya</a:t>
            </a:r>
            <a:endParaRPr lang="en-US" sz="1200" dirty="0"/>
          </a:p>
        </p:txBody>
      </p:sp>
      <p:sp>
        <p:nvSpPr>
          <p:cNvPr id="40" name="Text 37"/>
          <p:cNvSpPr/>
          <p:nvPr/>
        </p:nvSpPr>
        <p:spPr>
          <a:xfrm>
            <a:off x="9308592" y="4389120"/>
            <a:ext cx="1234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102</a:t>
            </a:r>
            <a:endParaRPr lang="en-US" sz="1200" dirty="0"/>
          </a:p>
        </p:txBody>
      </p:sp>
      <p:sp>
        <p:nvSpPr>
          <p:cNvPr id="41" name="Shape 38"/>
          <p:cNvSpPr/>
          <p:nvPr/>
        </p:nvSpPr>
        <p:spPr>
          <a:xfrm>
            <a:off x="10661904" y="4133088"/>
            <a:ext cx="1234440" cy="566928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10661904" y="4133088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Uganda</a:t>
            </a:r>
            <a:endParaRPr lang="en-US" sz="1200" dirty="0"/>
          </a:p>
        </p:txBody>
      </p:sp>
      <p:sp>
        <p:nvSpPr>
          <p:cNvPr id="43" name="Text 40"/>
          <p:cNvSpPr/>
          <p:nvPr/>
        </p:nvSpPr>
        <p:spPr>
          <a:xfrm>
            <a:off x="10661904" y="4389120"/>
            <a:ext cx="1234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39</a:t>
            </a:r>
            <a:endParaRPr lang="en-US" sz="1200" dirty="0"/>
          </a:p>
        </p:txBody>
      </p:sp>
      <p:sp>
        <p:nvSpPr>
          <p:cNvPr id="44" name="Shape 41"/>
          <p:cNvSpPr/>
          <p:nvPr/>
        </p:nvSpPr>
        <p:spPr>
          <a:xfrm>
            <a:off x="7955280" y="4791456"/>
            <a:ext cx="1234440" cy="566928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7955280" y="4791456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Sierra Leone</a:t>
            </a:r>
            <a:endParaRPr lang="en-US" sz="1200" dirty="0"/>
          </a:p>
        </p:txBody>
      </p:sp>
      <p:sp>
        <p:nvSpPr>
          <p:cNvPr id="46" name="Text 43"/>
          <p:cNvSpPr/>
          <p:nvPr/>
        </p:nvSpPr>
        <p:spPr>
          <a:xfrm>
            <a:off x="7955280" y="5047488"/>
            <a:ext cx="1234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33</a:t>
            </a:r>
            <a:endParaRPr lang="en-US" sz="1200" dirty="0"/>
          </a:p>
        </p:txBody>
      </p:sp>
      <p:sp>
        <p:nvSpPr>
          <p:cNvPr id="47" name="Shape 44"/>
          <p:cNvSpPr/>
          <p:nvPr/>
        </p:nvSpPr>
        <p:spPr>
          <a:xfrm>
            <a:off x="9308592" y="4791456"/>
            <a:ext cx="1234440" cy="566928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9308592" y="4791456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Nigeria</a:t>
            </a:r>
            <a:endParaRPr lang="en-US" sz="1200" dirty="0"/>
          </a:p>
        </p:txBody>
      </p:sp>
      <p:sp>
        <p:nvSpPr>
          <p:cNvPr id="49" name="Text 46"/>
          <p:cNvSpPr/>
          <p:nvPr/>
        </p:nvSpPr>
        <p:spPr>
          <a:xfrm>
            <a:off x="9308592" y="5047488"/>
            <a:ext cx="1234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36</a:t>
            </a:r>
            <a:endParaRPr lang="en-US" sz="1200" dirty="0"/>
          </a:p>
        </p:txBody>
      </p:sp>
      <p:sp>
        <p:nvSpPr>
          <p:cNvPr id="50" name="Shape 47"/>
          <p:cNvSpPr/>
          <p:nvPr/>
        </p:nvSpPr>
        <p:spPr>
          <a:xfrm>
            <a:off x="7955280" y="5577840"/>
            <a:ext cx="4069080" cy="97840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7955280" y="5577840"/>
            <a:ext cx="54864" cy="9784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8065008" y="563270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53" name="Text 50"/>
          <p:cNvSpPr/>
          <p:nvPr/>
        </p:nvSpPr>
        <p:spPr>
          <a:xfrm>
            <a:off x="8065008" y="5897880"/>
            <a:ext cx="388620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disbursed: $4,152,197 (+5.4% vs prior month).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had the highest disbursements ($1,901,411).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Disbursement Stats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February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59893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5879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Loan Size (USD) – February 2026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172200" y="539496"/>
            <a:ext cx="585216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17220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281928" y="539496"/>
            <a:ext cx="5742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Avg Disbursements Per Team – February 2026</a:t>
            </a:r>
            <a:endParaRPr lang="en-US" sz="1200" dirty="0"/>
          </a:p>
        </p:txBody>
      </p:sp>
      <p:graphicFrame>
        <p:nvGraphicFramePr>
          <p:cNvPr id="14" name="Chart 0" descr=""/>
          <p:cNvGraphicFramePr/>
          <p:nvPr/>
        </p:nvGraphicFramePr>
        <p:xfrm>
          <a:off x="137160" y="841248"/>
          <a:ext cx="580644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5" name="Chart 1" descr=""/>
          <p:cNvGraphicFramePr/>
          <p:nvPr/>
        </p:nvGraphicFramePr>
        <p:xfrm>
          <a:off x="6172200" y="841248"/>
          <a:ext cx="580644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6" name="Shape 12"/>
          <p:cNvSpPr/>
          <p:nvPr/>
        </p:nvSpPr>
        <p:spPr>
          <a:xfrm>
            <a:off x="0" y="5577840"/>
            <a:ext cx="59893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109728" y="5577840"/>
            <a:ext cx="5879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9" name="Text 15"/>
          <p:cNvSpPr/>
          <p:nvPr/>
        </p:nvSpPr>
        <p:spPr>
          <a:xfrm>
            <a:off x="137160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+3.2%</a:t>
            </a:r>
            <a:endParaRPr lang="en-US" sz="1200" dirty="0"/>
          </a:p>
        </p:txBody>
      </p:sp>
      <p:sp>
        <p:nvSpPr>
          <p:cNvPr id="20" name="Text 16"/>
          <p:cNvSpPr/>
          <p:nvPr/>
        </p:nvSpPr>
        <p:spPr>
          <a:xfrm>
            <a:off x="1298448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+2.9%</a:t>
            </a:r>
            <a:endParaRPr lang="en-US" sz="1200" dirty="0"/>
          </a:p>
        </p:txBody>
      </p:sp>
      <p:sp>
        <p:nvSpPr>
          <p:cNvPr id="21" name="Text 17"/>
          <p:cNvSpPr/>
          <p:nvPr/>
        </p:nvSpPr>
        <p:spPr>
          <a:xfrm>
            <a:off x="2459736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-6.5%</a:t>
            </a:r>
            <a:endParaRPr lang="en-US" sz="1200" dirty="0"/>
          </a:p>
        </p:txBody>
      </p:sp>
      <p:sp>
        <p:nvSpPr>
          <p:cNvPr id="22" name="Text 18"/>
          <p:cNvSpPr/>
          <p:nvPr/>
        </p:nvSpPr>
        <p:spPr>
          <a:xfrm>
            <a:off x="3621024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+16.9%</a:t>
            </a:r>
            <a:endParaRPr lang="en-US" sz="1200" dirty="0"/>
          </a:p>
        </p:txBody>
      </p:sp>
      <p:sp>
        <p:nvSpPr>
          <p:cNvPr id="23" name="Text 19"/>
          <p:cNvSpPr/>
          <p:nvPr/>
        </p:nvSpPr>
        <p:spPr>
          <a:xfrm>
            <a:off x="4782312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-24.5%</a:t>
            </a:r>
            <a:endParaRPr lang="en-US" sz="1200" dirty="0"/>
          </a:p>
        </p:txBody>
      </p:sp>
      <p:sp>
        <p:nvSpPr>
          <p:cNvPr id="24" name="Shape 20"/>
          <p:cNvSpPr/>
          <p:nvPr/>
        </p:nvSpPr>
        <p:spPr>
          <a:xfrm>
            <a:off x="6172200" y="5577840"/>
            <a:ext cx="585216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617220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6281928" y="5577840"/>
            <a:ext cx="5742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27" name="Text 23"/>
          <p:cNvSpPr/>
          <p:nvPr/>
        </p:nvSpPr>
        <p:spPr>
          <a:xfrm>
            <a:off x="6172200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-40.2%</a:t>
            </a:r>
            <a:endParaRPr lang="en-US" sz="1200" dirty="0"/>
          </a:p>
        </p:txBody>
      </p:sp>
      <p:sp>
        <p:nvSpPr>
          <p:cNvPr id="28" name="Text 24"/>
          <p:cNvSpPr/>
          <p:nvPr/>
        </p:nvSpPr>
        <p:spPr>
          <a:xfrm>
            <a:off x="7333488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-14.9%</a:t>
            </a:r>
            <a:endParaRPr lang="en-US" sz="1200" dirty="0"/>
          </a:p>
        </p:txBody>
      </p:sp>
      <p:sp>
        <p:nvSpPr>
          <p:cNvPr id="29" name="Text 25"/>
          <p:cNvSpPr/>
          <p:nvPr/>
        </p:nvSpPr>
        <p:spPr>
          <a:xfrm>
            <a:off x="8494776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+34.1%</a:t>
            </a:r>
            <a:endParaRPr lang="en-US" sz="1200" dirty="0"/>
          </a:p>
        </p:txBody>
      </p:sp>
      <p:sp>
        <p:nvSpPr>
          <p:cNvPr id="30" name="Text 26"/>
          <p:cNvSpPr/>
          <p:nvPr/>
        </p:nvSpPr>
        <p:spPr>
          <a:xfrm>
            <a:off x="9656064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-33.3%</a:t>
            </a:r>
            <a:endParaRPr lang="en-US" sz="1200" dirty="0"/>
          </a:p>
        </p:txBody>
      </p:sp>
      <p:sp>
        <p:nvSpPr>
          <p:cNvPr id="31" name="Text 27"/>
          <p:cNvSpPr/>
          <p:nvPr/>
        </p:nvSpPr>
        <p:spPr>
          <a:xfrm>
            <a:off x="10817352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+78.3%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Book Size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February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Book – P+I Outstanding (≤60 Days Overdue) – February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+12.6%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+10.4%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+18.2%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+14.0%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+7.5%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$13,661,650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28930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Loan Book (USD)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78308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78308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87452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+12.4%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38658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vs Prior Month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880360"/>
            <a:ext cx="4069080" cy="367588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955280" y="2880360"/>
            <a:ext cx="54864" cy="367588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8065008" y="293522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8065008" y="3200400"/>
            <a:ext cx="3886200" cy="32644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loan book: $13,661,650 (+12.4% vs prior month).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has the largest loan book ($6,318,826).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Default Rates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February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Year to Date Chronic Rates (P+I) – February 2026</a:t>
            </a:r>
            <a:endParaRPr lang="en-US" sz="1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868680"/>
          <a:ext cx="1188720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743200"/>
                <a:gridCol w="2743200"/>
                <a:gridCol w="32004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Country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Chronic Rate – Prior Month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Chronic Rate – Month Under Review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Change (bps)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Tanzania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6.5%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+195 bps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Kenya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-57 bps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Uganda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+51 bps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Sierra Leone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-43 bps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Nigeria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+184 bps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GROUP TOTAL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+81 bps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Default Rates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February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 30 – February 2026</a:t>
            </a:r>
            <a:endParaRPr lang="en-US" sz="1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868680"/>
          <a:ext cx="1188720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743200"/>
                <a:gridCol w="2743200"/>
                <a:gridCol w="32004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Country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PAR 30 – Prior Month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PAR 30 – Month Under Review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Change (bps)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Tanzania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 bps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Kenya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+257 bps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Uganda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+139 bps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Sierra Leone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-20 bps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Nigeria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+470 bps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GROUP TOTAL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+103 bps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Summary Financial Results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February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Income &amp; Expenses (USD) – February 2026</a:t>
            </a:r>
            <a:endParaRPr lang="en-US" sz="1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868680"/>
          <a:ext cx="118872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645920"/>
                <a:gridCol w="1645920"/>
                <a:gridCol w="1645920"/>
                <a:gridCol w="1645920"/>
                <a:gridCol w="1234440"/>
                <a:gridCol w="187452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Country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Revenue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Provision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Opex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Operating Income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Op. Margin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Prior Month OI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Tanzania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$863,691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$-134,461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$-494,497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$234,734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$228,764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Kenya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$587,291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$-80,610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$-393,160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$113,521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19.3%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$162,571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Uganda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$166,490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$-46,267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$-157,512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$-37,289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-22.4%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$-62,350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Sierra Leone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$190,965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$-5,647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$-119,291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$66,026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$55,275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Nigeria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$37,223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$-39,982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$-87,693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$-90,452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-243.0%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$-69,419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GROUP TOTAL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$1,845,661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$-306,968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$-1,252,152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$286,540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15.5%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$314,841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</a:tbl>
          </a:graphicData>
        </a:graphic>
      </p:graphicFrame>
      <p:sp>
        <p:nvSpPr>
          <p:cNvPr id="12" name="Text 9"/>
          <p:cNvSpPr/>
          <p:nvPr/>
        </p:nvSpPr>
        <p:spPr>
          <a:xfrm>
            <a:off x="137160" y="4370832"/>
            <a:ext cx="1188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= Interest Income + Processing Fees  |  Opex includes Interest Expense  |  Figures in USD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137160" y="4681728"/>
            <a:ext cx="384048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137160" y="4681728"/>
            <a:ext cx="38404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37160" y="4773168"/>
            <a:ext cx="3840480" cy="945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$1,845,661</a:t>
            </a:r>
            <a:endParaRPr lang="en-US" sz="2600" dirty="0"/>
          </a:p>
        </p:txBody>
      </p:sp>
      <p:sp>
        <p:nvSpPr>
          <p:cNvPr id="16" name="Text 13"/>
          <p:cNvSpPr/>
          <p:nvPr/>
        </p:nvSpPr>
        <p:spPr>
          <a:xfrm>
            <a:off x="182880" y="5713171"/>
            <a:ext cx="3749040" cy="687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Revenue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4160520" y="4681728"/>
            <a:ext cx="384048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4160520" y="4681728"/>
            <a:ext cx="38404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160520" y="4773168"/>
            <a:ext cx="3840480" cy="945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$286,540</a:t>
            </a:r>
            <a:endParaRPr lang="en-US" sz="2600" dirty="0"/>
          </a:p>
        </p:txBody>
      </p:sp>
      <p:sp>
        <p:nvSpPr>
          <p:cNvPr id="20" name="Text 17"/>
          <p:cNvSpPr/>
          <p:nvPr/>
        </p:nvSpPr>
        <p:spPr>
          <a:xfrm>
            <a:off x="4206240" y="5713171"/>
            <a:ext cx="3749040" cy="687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Operating Income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8183880" y="4681728"/>
            <a:ext cx="384048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8183880" y="4681728"/>
            <a:ext cx="38404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183880" y="4773168"/>
            <a:ext cx="3840480" cy="945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15.5%</a:t>
            </a:r>
            <a:endParaRPr lang="en-US" sz="2600" dirty="0"/>
          </a:p>
        </p:txBody>
      </p:sp>
      <p:sp>
        <p:nvSpPr>
          <p:cNvPr id="24" name="Text 21"/>
          <p:cNvSpPr/>
          <p:nvPr/>
        </p:nvSpPr>
        <p:spPr>
          <a:xfrm>
            <a:off x="8229600" y="5713171"/>
            <a:ext cx="3749040" cy="687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Margin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Operating Expenses – Staff Cost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February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Staff Cost Per Team by Country (USD) – February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1188720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641848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641848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641848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+2.9%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251460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+4.8%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89204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+23.9%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26948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+6.1%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964692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+7.2%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Operating Expenses – Fuel Cost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February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Fuel Cost Per Team by Country (USD) – February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1188720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641848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641848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641848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-21.0%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251460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-3.8%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89204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+13.7%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26948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+3.2%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964692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+12.3%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Operating Expenses – Vehicle Maintenance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February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Vehicle Maintenance Per Team by Country (USD) – February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1188720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641848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641848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641848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-28.3%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251460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+68.2%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89204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+30.4%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26948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-71.4%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964692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-27.9%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Oya Group Monthly Review — February 2026</dc:title>
  <dc:subject>PptxGenJS Presentation</dc:subject>
  <dc:creator>Oya Microcredit</dc:creator>
  <cp:lastModifiedBy>Oya Microcredit</cp:lastModifiedBy>
  <cp:revision>1</cp:revision>
  <dcterms:created xsi:type="dcterms:W3CDTF">2026-03-13T13:20:54Z</dcterms:created>
  <dcterms:modified xsi:type="dcterms:W3CDTF">2026-03-13T13:20:54Z</dcterms:modified>
</cp:coreProperties>
</file>