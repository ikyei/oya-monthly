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6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4.xml" ContentType="application/vnd.openxmlformats-officedocument.drawingml.chart+xml"/>
  <Override PartName="/ppt/charts/chart6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6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1.xlsx"/></Relationships>
</file>

<file path=ppt/charts/_rels/chart6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2.xlsx"/></Relationships>
</file>

<file path=ppt/charts/_rels/chart6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3.xlsx"/></Relationships>
</file>

<file path=ppt/charts/_rels/chart6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4.xlsx"/></Relationships>
</file>

<file path=ppt/charts/_rels/chart6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5.xlsx"/></Relationships>
</file>

<file path=ppt/charts/_rels/chart6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6.xlsx"/></Relationships>
</file>

<file path=ppt/charts/_rels/chart6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7.xlsx"/></Relationships>
</file>

<file path=ppt/charts/_rels/chart6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8.xlsx"/></Relationships>
</file>

<file path=ppt/charts/_rels/chart6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9.xlsx"/></Relationships>
</file>

<file path=ppt/charts/_rels/chart7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0.xlsx"/></Relationships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Uganda</c:v>
                  </c:pt>
                  <c:pt idx="3">
                    <c:v>Sierra Leone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</c:v>
                </c:pt>
                <c:pt idx="1">
                  <c:v>85</c:v>
                </c:pt>
                <c:pt idx="2">
                  <c:v>75</c:v>
                </c:pt>
                <c:pt idx="3">
                  <c:v>52</c:v>
                </c:pt>
                <c:pt idx="4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Uganda</c:v>
                  </c:pt>
                  <c:pt idx="1">
                    <c:v>Tanzania</c:v>
                  </c:pt>
                  <c:pt idx="2">
                    <c:v>Kenya</c:v>
                  </c:pt>
                  <c:pt idx="3">
                    <c:v>Sierra Leone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0.972603</c:v>
                </c:pt>
                <c:pt idx="1">
                  <c:v>0.944763</c:v>
                </c:pt>
                <c:pt idx="2">
                  <c:v>0.933149</c:v>
                </c:pt>
                <c:pt idx="3">
                  <c:v>0.833138</c:v>
                </c:pt>
                <c:pt idx="4">
                  <c:v>0.633053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2785600.415</c:v>
                </c:pt>
                <c:pt idx="1">
                  <c:v>1820891.473</c:v>
                </c:pt>
                <c:pt idx="2">
                  <c:v>667832.689</c:v>
                </c:pt>
                <c:pt idx="3">
                  <c:v>572205.0562</c:v>
                </c:pt>
                <c:pt idx="4">
                  <c:v>143592.5926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219.373162</c:v>
                </c:pt>
                <c:pt idx="1">
                  <c:v>224.940268</c:v>
                </c:pt>
                <c:pt idx="2">
                  <c:v>465.064547</c:v>
                </c:pt>
                <c:pt idx="3">
                  <c:v>203.704185</c:v>
                </c:pt>
                <c:pt idx="4">
                  <c:v>165.429254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159</c:v>
                </c:pt>
                <c:pt idx="1">
                  <c:v>135</c:v>
                </c:pt>
                <c:pt idx="2">
                  <c:v>26</c:v>
                </c:pt>
                <c:pt idx="3">
                  <c:v>83</c:v>
                </c:pt>
                <c:pt idx="4">
                  <c:v>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Nigeria</c:v>
                  </c:pt>
                  <c:pt idx="3">
                    <c:v>Uganda</c:v>
                  </c:pt>
                  <c:pt idx="4">
                    <c:v>Sierra Leone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6318825.621</c:v>
                </c:pt>
                <c:pt idx="1">
                  <c:v>4177694.043</c:v>
                </c:pt>
                <c:pt idx="2">
                  <c:v>1332374.784</c:v>
                </c:pt>
                <c:pt idx="3">
                  <c:v>1328495.447</c:v>
                </c:pt>
                <c:pt idx="4">
                  <c:v>504260.5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Nigeria</c:v>
                  </c:pt>
                  <c:pt idx="1">
                    <c:v>Sierra Leone</c:v>
                  </c:pt>
                  <c:pt idx="2">
                    <c:v>Tanzania</c:v>
                  </c:pt>
                  <c:pt idx="3">
                    <c:v>Uganda</c:v>
                  </c:pt>
                  <c:pt idx="4">
                    <c:v>Kenya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363</c:v>
                </c:pt>
                <c:pt idx="1">
                  <c:v>805</c:v>
                </c:pt>
                <c:pt idx="2">
                  <c:v>1285</c:v>
                </c:pt>
                <c:pt idx="3">
                  <c:v>1329</c:v>
                </c:pt>
                <c:pt idx="4">
                  <c:v>1486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47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Nigeria</c:v>
                  </c:pt>
                  <c:pt idx="1">
                    <c:v>Uganda</c:v>
                  </c:pt>
                  <c:pt idx="2">
                    <c:v>Sierra Leone</c:v>
                  </c:pt>
                  <c:pt idx="3">
                    <c:v>Kenya</c:v>
                  </c:pt>
                  <c:pt idx="4">
                    <c:v>Tanzania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99</c:v>
                </c:pt>
                <c:pt idx="2">
                  <c:v>145</c:v>
                </c:pt>
                <c:pt idx="3">
                  <c:v>163</c:v>
                </c:pt>
                <c:pt idx="4">
                  <c:v>227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Sierra Leone</c:v>
                  </c:pt>
                  <c:pt idx="1">
                    <c:v>Uganda</c:v>
                  </c:pt>
                  <c:pt idx="2">
                    <c:v>Kenya</c:v>
                  </c:pt>
                  <c:pt idx="3">
                    <c:v>Tanzania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30</c:v>
                </c:pt>
                <c:pt idx="2">
                  <c:v>37</c:v>
                </c:pt>
                <c:pt idx="3">
                  <c:v>43</c:v>
                </c:pt>
                <c:pt idx="4">
                  <c:v>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4.xml"/><Relationship Id="rId2" Type="http://schemas.openxmlformats.org/officeDocument/2006/relationships/chart" Target="/ppt/charts/chart6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D3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FF9D9"/>
          </a:solidFill>
          <a:ln w="12700">
            <a:solidFill>
              <a:srgbClr val="FFF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54864" cy="6858000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6400800" cy="6400800"/>
          </a:xfrm>
          <a:prstGeom prst="ellipse">
            <a:avLst/>
          </a:prstGeom>
          <a:solidFill>
            <a:srgbClr val="FFF9D9">
              <a:alpha val="8000"/>
            </a:srgbClr>
          </a:solidFill>
          <a:ln w="12700">
            <a:solidFill>
              <a:srgbClr val="FFF9D9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600" kern="0" dirty="0">
                <a:solidFill>
                  <a:srgbClr val="C495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MICROCREDIT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548640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MONTHLY PERFORMANCE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95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FEBRUARY 2026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Prepared: October 6,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6126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 ·  Kenya  ·  Uganda  ·  Sierra Leone  ·  Nigeria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Applications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February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Number of Applications Per Team – February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-5.8%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-23.4%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+66.7%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-8.8%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+21.2%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28,147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81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per Team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88036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297180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-6.9%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8386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977640"/>
            <a:ext cx="4069080" cy="257860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977640"/>
            <a:ext cx="54864" cy="2578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40325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65008" y="4297680"/>
            <a:ext cx="3886200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total: 28,147 applications (-7.1%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had the highest avg applications per team (97).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Assessment Efficiency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February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Approval Rate (%) Per Country – February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25,937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Approvals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92.1%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Approval Rate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88036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297180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↑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8386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977640"/>
            <a:ext cx="4069080" cy="257860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977640"/>
            <a:ext cx="54864" cy="2578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40325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65008" y="4297680"/>
            <a:ext cx="3886200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total approvals: 25,937.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 had the highest approval rate (97.3%).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Disbursement Trend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February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Disbursements Per Country (USD) – February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-4.0%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-12.4%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+6.9%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+62.9%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-5.8%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$5,990,122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316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Disbursed (USD)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828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828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920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-1.9%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459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971800"/>
            <a:ext cx="4069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971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306324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74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1071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Disb per Team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703320"/>
            <a:ext cx="406908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70332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370332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Number of Teams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955280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0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955280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139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308592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308592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308592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10661904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661904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Sierra Leone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10661904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33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955280" y="461772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955280" y="46177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7955280" y="4855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39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9308592" y="461772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308592" y="46177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308592" y="4855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36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955280" y="5321808"/>
            <a:ext cx="4069080" cy="960120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955280" y="5321808"/>
            <a:ext cx="54864" cy="9601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65008" y="537667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8065008" y="5641848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disbursed: $5,990,122 (-1.9%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had the highest disbursements ($2,785,600).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Disbursement Stats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February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59893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5879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Loan Size (USD) – February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539496"/>
            <a:ext cx="585216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539496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Disbursements Per Team – February 2026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137160" y="841248"/>
          <a:ext cx="5806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Chart 1" descr=""/>
          <p:cNvGraphicFramePr/>
          <p:nvPr/>
        </p:nvGraphicFramePr>
        <p:xfrm>
          <a:off x="6172200" y="841248"/>
          <a:ext cx="5806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0" y="5577840"/>
            <a:ext cx="59893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9728" y="5577840"/>
            <a:ext cx="5879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37160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+4.7%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298448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+7.2%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459736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+11.8%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621024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-9.6%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782312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-22.5%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172200" y="5577840"/>
            <a:ext cx="585216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17220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81928" y="5577840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172200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-35.6%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333488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-41.3%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494776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-21.2%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656064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+22.1%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0817352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+72.2%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Turnaround Time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February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Days from Application to Disbursement – February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days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316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Turnaround Time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828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828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920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↑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459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971800"/>
            <a:ext cx="4069080" cy="358444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55280" y="2971800"/>
            <a:ext cx="54864" cy="358444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65008" y="302666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65008" y="3291840"/>
            <a:ext cx="3886200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turnaround: 4 days.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Fastest: Tanzania (2 days). Slowest: Sierra Leone (6 days).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Book Size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February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Book – P+I Outstanding (≤60 Days Overdue) – February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+12.6%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+10.4%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+14.0%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+18.2%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+7.5%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$13,661,650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Book (USD)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+12.4%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367588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55280" y="2880360"/>
            <a:ext cx="54864" cy="367588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65008" y="293522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65008" y="3200400"/>
            <a:ext cx="388620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book: $13,661,650 (+12.4%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has the largest loan book ($6,318,826).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Default 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February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 to Date Chronic Rates (P+I) – February 2026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Chronic Rate – Prior Month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Chronic Rate – Month Under Review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Trend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Default 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February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 30 – February 2026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 30 – Prior Month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 30 – Month Under Review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Trend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Summary Financial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February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Income &amp; Expenses (USD) – February 2026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  <a:gridCol w="1645920"/>
                <a:gridCol w="1645920"/>
                <a:gridCol w="123444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Revenue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Provision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Operating Income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Op. Margin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Prior Month OI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$863,691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$-134,461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$-494,497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$234,734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$228,764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$587,291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$-80,610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$-393,160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$113,521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$162,571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$190,965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$-5,647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$-119,291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$66,026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$55,275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$166,490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$-46,267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$-157,512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$-37,289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$-62,350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$37,223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$-39,982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$-87,693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$-90,452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-243.0%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$-69,419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$1,845,661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$-306,968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$-1,252,152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$286,540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$314,841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37160" y="437083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Interest Income + Processing Fees  |  Opex includes Interest Expense  |  Figures in USD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3716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3716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716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$1,845,661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8288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Revenue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6052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6052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$286,540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420624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Operating Income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8388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8388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15.5%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822960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Margin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Staff Cost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February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Staff Cost Per Team by Country (USD) – February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6418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6418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6418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+7.4%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+6.2%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+2.9%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+23.9%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+4.7%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Fuel Cost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February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Fuel Cost Per Team by Country (USD) – February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1846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1846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1846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+13.2%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+12.5%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+2.8%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-4.1%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-21.2%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5897880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589788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" y="5897880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Disb per Team vs Prior Month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+72.2%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460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+22.1%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-21.2%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6948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-41.3%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4692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-35.6%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Vehicle Maintenance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February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Vehicle Maintenance Per Team by Country (USD) – February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1846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1846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1846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-71.4%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+30.4%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+68.2%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-28.3%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-27.9%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5897880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589788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" y="5897880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Disb per Team vs Prior Month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-21.2%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460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+22.1%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-41.3%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6948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-35.6%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4692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+72.2%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Oya Group Monthly Review — February 2026</dc:title>
  <dc:subject>PptxGenJS Presentation</dc:subject>
  <dc:creator>Oya Microcredit</dc:creator>
  <cp:lastModifiedBy>Oya Microcredit</cp:lastModifiedBy>
  <cp:revision>1</cp:revision>
  <dcterms:created xsi:type="dcterms:W3CDTF">2026-10-06T02:50:30Z</dcterms:created>
  <dcterms:modified xsi:type="dcterms:W3CDTF">2026-10-06T02:50:30Z</dcterms:modified>
</cp:coreProperties>
</file>