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5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_rels/chart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_rels/chart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_rels/chart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_rels/chart5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.xlsx"/></Relationships>
</file>

<file path=ppt/charts/_rels/chart5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_rels/chart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8.xlsx"/></Relationships>
</file>

<file path=ppt/charts/_rels/chart5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9.xlsx"/></Relationships>
</file>

<file path=ppt/charts/_rels/chart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0.xlsx"/></Relationships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Uganda</c:v>
                  </c:pt>
                  <c:pt idx="3">
                    <c:v>Sierra Leone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</c:v>
                </c:pt>
                <c:pt idx="1">
                  <c:v>80</c:v>
                </c:pt>
                <c:pt idx="2">
                  <c:v>74</c:v>
                </c:pt>
                <c:pt idx="3">
                  <c:v>47</c:v>
                </c:pt>
                <c:pt idx="4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Kenya</c:v>
                  </c:pt>
                  <c:pt idx="2">
                    <c:v>Tanzania</c:v>
                  </c:pt>
                  <c:pt idx="3">
                    <c:v>Nigeria</c:v>
                  </c:pt>
                  <c:pt idx="4">
                    <c:v>Sierra Leone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0.962191</c:v>
                </c:pt>
                <c:pt idx="1">
                  <c:v>0.94675</c:v>
                </c:pt>
                <c:pt idx="2">
                  <c:v>0.946624</c:v>
                </c:pt>
                <c:pt idx="3">
                  <c:v>0.915845</c:v>
                </c:pt>
                <c:pt idx="4">
                  <c:v>0.882889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2899960.102</c:v>
                </c:pt>
                <c:pt idx="1">
                  <c:v>1869538.462</c:v>
                </c:pt>
                <c:pt idx="2">
                  <c:v>660646.4921</c:v>
                </c:pt>
                <c:pt idx="3">
                  <c:v>551198.3471</c:v>
                </c:pt>
                <c:pt idx="4">
                  <c:v>208043.7956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229.936576</c:v>
                </c:pt>
                <c:pt idx="1">
                  <c:v>241.636094</c:v>
                </c:pt>
                <c:pt idx="2">
                  <c:v>473.921443</c:v>
                </c:pt>
                <c:pt idx="3">
                  <c:v>201.535045</c:v>
                </c:pt>
                <c:pt idx="4">
                  <c:v>177.36044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160</c:v>
                </c:pt>
                <c:pt idx="1">
                  <c:v>131</c:v>
                </c:pt>
                <c:pt idx="2">
                  <c:v>26</c:v>
                </c:pt>
                <c:pt idx="3">
                  <c:v>83</c:v>
                </c:pt>
                <c:pt idx="4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Sierra Leone</c:v>
                  </c:pt>
                  <c:pt idx="2">
                    <c:v>Kenya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Uganda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6676011.45</c:v>
                </c:pt>
                <c:pt idx="1">
                  <c:v>4212998.746</c:v>
                </c:pt>
                <c:pt idx="2">
                  <c:v>1365888.828</c:v>
                </c:pt>
                <c:pt idx="3">
                  <c:v>1309168.382</c:v>
                </c:pt>
                <c:pt idx="4">
                  <c:v>458573.7445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Sierra Leone</c:v>
                  </c:pt>
                  <c:pt idx="2">
                    <c:v>Uganda</c:v>
                  </c:pt>
                  <c:pt idx="3">
                    <c:v>Tanzania</c:v>
                  </c:pt>
                  <c:pt idx="4">
                    <c:v>Kenya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376</c:v>
                </c:pt>
                <c:pt idx="1">
                  <c:v>808</c:v>
                </c:pt>
                <c:pt idx="2">
                  <c:v>1122</c:v>
                </c:pt>
                <c:pt idx="3">
                  <c:v>1244</c:v>
                </c:pt>
                <c:pt idx="4">
                  <c:v>1477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47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Sierra Leone</c:v>
                  </c:pt>
                  <c:pt idx="2">
                    <c:v>Uganda</c:v>
                  </c:pt>
                  <c:pt idx="3">
                    <c:v>Kenya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100</c:v>
                </c:pt>
                <c:pt idx="2">
                  <c:v>115</c:v>
                </c:pt>
                <c:pt idx="3">
                  <c:v>193</c:v>
                </c:pt>
                <c:pt idx="4">
                  <c:v>248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Sierra Leone</c:v>
                  </c:pt>
                  <c:pt idx="2">
                    <c:v>Kenya</c:v>
                  </c:pt>
                  <c:pt idx="3">
                    <c:v>Tanzania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7</c:v>
                </c:pt>
                <c:pt idx="2">
                  <c:v>40</c:v>
                </c:pt>
                <c:pt idx="3">
                  <c:v>64</c:v>
                </c:pt>
                <c:pt idx="4">
                  <c:v>113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4.xml"/><Relationship Id="rId2" Type="http://schemas.openxmlformats.org/officeDocument/2006/relationships/chart" Target="/ppt/charts/chart5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D3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F9D9"/>
          </a:solidFill>
          <a:ln w="12700">
            <a:solidFill>
              <a:srgbClr val="FFF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54864" cy="6858000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FFF9D9">
              <a:alpha val="8000"/>
            </a:srgbClr>
          </a:solidFill>
          <a:ln w="12700">
            <a:solidFill>
              <a:srgbClr val="FFF9D9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600" kern="0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MICROCREDIT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548640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MONTHLY PERFORMANCE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MARCH 2026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Prepared: October 6,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6126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 ·  Kenya  ·  Uganda  ·  Sierra Leone  ·  Nigeria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Number of Applications Per Team – March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-5.9%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-1.3%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-9.6%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-7.5%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27,138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78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per Team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-3.7%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total: 27,138 applications (-3.6%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had the highest avg applications per team (96).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Assessment Efficiency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Approval Rate (%) Per Country – March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25,596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Approvals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94.3%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Approval Rate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7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↑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 approvals: 25,596.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 had the highest approval rate (96.2%).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Trend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Disbursements Per Country (USD) – March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+4.1%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+2.7%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-3.7%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+44.9%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$6,189,387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+3.3%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971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306324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74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1071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Disb per Team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703320"/>
            <a:ext cx="406908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70332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370332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Number of Teams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955280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0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955280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139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308592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08592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308592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10661904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661904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Leone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0661904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33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955280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955280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955280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38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9308592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308592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308592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36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955280" y="5321808"/>
            <a:ext cx="4069080" cy="960120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955280" y="5321808"/>
            <a:ext cx="54864" cy="9601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65008" y="537667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065008" y="564184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disbursed: $6,189,387 (+3.3%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had the highest disbursements ($2,899,960).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Stats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Loan Size (USD) – March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539496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539496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Disbursements Per Team – March 2026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13716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Chart 1" descr=""/>
          <p:cNvGraphicFramePr/>
          <p:nvPr/>
        </p:nvGraphicFramePr>
        <p:xfrm>
          <a:off x="617220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0" y="5577840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9728" y="5577840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3716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+4.8%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29844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+7.4%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45973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+1.9%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62102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-1.1%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78231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+7.2%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72200" y="5577840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7220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81928" y="5577840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17220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+0.6%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33348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-3.0%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49477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65606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081735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-14.5%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Turnaround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Days from Application to Disbursement – March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days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 Time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358444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971800"/>
            <a:ext cx="54864" cy="358444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302666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91840"/>
            <a:ext cx="3886200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turnaround: 4 days.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Fastest: Tanzania (3 days). Slowest: Kenya (4 days).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Size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– P+I Outstanding (≤60 Days Overdue) – March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+5.7%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-9.1%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$14,022,641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+2.6%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367588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880360"/>
            <a:ext cx="54864" cy="367588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293522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00400"/>
            <a:ext cx="388620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book: $14,022,641 (+2.6%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has the largest loan book ($6,676,011).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 to Date Chronic Rates (P+I) – March 2026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 30 – March 2026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Summary Financial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Income &amp; Expenses (USD) – March 2026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  <a:gridCol w="1645920"/>
                <a:gridCol w="1645920"/>
                <a:gridCol w="123444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Revenue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Provision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Operating Income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Op. Margin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Prior Month OI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$1,002,357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$-169,884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$-496,116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$336,358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$234,734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$671,626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$-100,053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$-434,403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$137,171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$113,521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$220,744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$-5,321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$-124,684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$90,739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$68,359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$192,034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$-46,464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$-145,991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$-37,289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$53,295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$-33,474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$-85,519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$-65,698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-123.3%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$-89,786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$2,140,057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$-355,195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$-1,286,713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$498,150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$289,538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37160" y="437083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Interest Income + Processing Fees  |  Opex includes Interest Expense  |  Figures in USD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3716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3716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$2,140,057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8288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Revenue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6052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6052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$498,150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420624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Operating Income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8388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8388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23.3%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822960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Margin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Staff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Staff Cost Per Team by Country (USD) – March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6418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6418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6418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+4.4%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-17.7%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-3.2%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-0.6%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Fuel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Fuel Cost Per Team by Country (USD) – March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+44.1%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-31.0%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+12.7%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+18.4%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+9.3%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-14.5%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-3.0%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+0.6%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Vehicle Maintenance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Vehicle Maintenance Per Team by Country (USD) – March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-100.0%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+16.7%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+8.1%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+48.8%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+130.6%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-3.0%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-14.5%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Oya Group Monthly Review — March 2026</dc:title>
  <dc:subject>PptxGenJS Presentation</dc:subject>
  <dc:creator>Oya Microcredit</dc:creator>
  <cp:lastModifiedBy>Oya Microcredit</cp:lastModifiedBy>
  <cp:revision>1</cp:revision>
  <dcterms:created xsi:type="dcterms:W3CDTF">2026-10-06T02:50:30Z</dcterms:created>
  <dcterms:modified xsi:type="dcterms:W3CDTF">2026-10-06T02:50:30Z</dcterms:modified>
</cp:coreProperties>
</file>