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4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4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4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4.xml" ContentType="application/vnd.openxmlformats-officedocument.drawingml.chart+xml"/>
  <Override PartName="/ppt/charts/chart45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46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7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48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49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50.xml" ContentType="application/vnd.openxmlformats-officedocument.drawingml.chart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charts/_rels/chart4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1.xlsx"/></Relationships>
</file>

<file path=ppt/charts/_rels/chart4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2.xlsx"/></Relationships>
</file>

<file path=ppt/charts/_rels/chart4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3.xlsx"/></Relationships>
</file>

<file path=ppt/charts/_rels/chart4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4.xlsx"/></Relationships>
</file>

<file path=ppt/charts/_rels/chart4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5.xlsx"/></Relationships>
</file>

<file path=ppt/charts/_rels/chart4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6.xlsx"/></Relationships>
</file>

<file path=ppt/charts/_rels/chart4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7.xlsx"/></Relationships>
</file>

<file path=ppt/charts/_rels/chart4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8.xlsx"/></Relationships>
</file>

<file path=ppt/charts/_rels/chart4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9.xlsx"/></Relationships>
</file>

<file path=ppt/charts/_rels/chart5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0.xlsx"/></Relationships>
</file>

<file path=ppt/charts/chart4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Uganda</c:v>
                  </c:pt>
                  <c:pt idx="3">
                    <c:v>Sierra Leone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96</c:v>
                </c:pt>
                <c:pt idx="1">
                  <c:v>80</c:v>
                </c:pt>
                <c:pt idx="2">
                  <c:v>74</c:v>
                </c:pt>
                <c:pt idx="3">
                  <c:v>47</c:v>
                </c:pt>
                <c:pt idx="4">
                  <c:v>37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Kenya</c:v>
                  </c:pt>
                  <c:pt idx="2">
                    <c:v>Tanzania</c:v>
                  </c:pt>
                  <c:pt idx="3">
                    <c:v>Nigeria</c:v>
                  </c:pt>
                  <c:pt idx="4">
                    <c:v>Sierra Leone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0.962191</c:v>
                </c:pt>
                <c:pt idx="1">
                  <c:v>0.94675</c:v>
                </c:pt>
                <c:pt idx="2">
                  <c:v>0.946624</c:v>
                </c:pt>
                <c:pt idx="3">
                  <c:v>0.915845</c:v>
                </c:pt>
                <c:pt idx="4">
                  <c:v>0.882889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2899960.102</c:v>
                </c:pt>
                <c:pt idx="1">
                  <c:v>1869538.462</c:v>
                </c:pt>
                <c:pt idx="2">
                  <c:v>660646.4921</c:v>
                </c:pt>
                <c:pt idx="3">
                  <c:v>551198.3471</c:v>
                </c:pt>
                <c:pt idx="4">
                  <c:v>208043.7956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229.936576</c:v>
                </c:pt>
                <c:pt idx="1">
                  <c:v>241.636094</c:v>
                </c:pt>
                <c:pt idx="2">
                  <c:v>473.921443</c:v>
                </c:pt>
                <c:pt idx="3">
                  <c:v>201.535045</c:v>
                </c:pt>
                <c:pt idx="4">
                  <c:v>177.36044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160</c:v>
                </c:pt>
                <c:pt idx="1">
                  <c:v>131</c:v>
                </c:pt>
                <c:pt idx="2">
                  <c:v>26</c:v>
                </c:pt>
                <c:pt idx="3">
                  <c:v>83</c:v>
                </c:pt>
                <c:pt idx="4">
                  <c:v>53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1A7A6E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A7A6E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</c:v>
                </c:pt>
                <c:pt idx="1">
                  <c:v>3</c:v>
                </c:pt>
                <c:pt idx="2">
                  <c:v>4</c:v>
                </c:pt>
                <c:pt idx="3">
                  <c:v>4</c:v>
                </c:pt>
                <c:pt idx="4">
                  <c:v>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Tanzania</c:v>
                  </c:pt>
                  <c:pt idx="1">
                    <c:v>Kenya</c:v>
                  </c:pt>
                  <c:pt idx="2">
                    <c:v>Sierra Leone</c:v>
                  </c:pt>
                  <c:pt idx="3">
                    <c:v>Uganda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6676011.45</c:v>
                </c:pt>
                <c:pt idx="1">
                  <c:v>4212998.746</c:v>
                </c:pt>
                <c:pt idx="2">
                  <c:v>1365888.828</c:v>
                </c:pt>
                <c:pt idx="3">
                  <c:v>1309168.382</c:v>
                </c:pt>
                <c:pt idx="4">
                  <c:v>458573.7445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4A556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4A5568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Tanzania</c:v>
                  </c:pt>
                  <c:pt idx="4">
                    <c:v>Kenya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376</c:v>
                </c:pt>
                <c:pt idx="1">
                  <c:v>808</c:v>
                </c:pt>
                <c:pt idx="2">
                  <c:v>1122</c:v>
                </c:pt>
                <c:pt idx="3">
                  <c:v>1244</c:v>
                </c:pt>
                <c:pt idx="4">
                  <c:v>1477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4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47A1A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47A1A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Nigeria</c:v>
                  </c:pt>
                  <c:pt idx="1">
                    <c:v>Sierra Leone</c:v>
                  </c:pt>
                  <c:pt idx="2">
                    <c:v>Uganda</c:v>
                  </c:pt>
                  <c:pt idx="3">
                    <c:v>Kenya</c:v>
                  </c:pt>
                  <c:pt idx="4">
                    <c:v>Tanzania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85</c:v>
                </c:pt>
                <c:pt idx="1">
                  <c:v>100</c:v>
                </c:pt>
                <c:pt idx="2">
                  <c:v>115</c:v>
                </c:pt>
                <c:pt idx="3">
                  <c:v>193</c:v>
                </c:pt>
                <c:pt idx="4">
                  <c:v>248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charts/chart5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/>
                </c:pt>
              </c:strCache>
            </c:strRef>
          </c:tx>
          <c:spPr>
            <a:solidFill>
              <a:srgbClr val="C0392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200" u="none">
                    <a:solidFill>
                      <a:srgbClr val="2D2A26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C0392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Uganda</c:v>
                  </c:pt>
                  <c:pt idx="1">
                    <c:v>Sierra Leone</c:v>
                  </c:pt>
                  <c:pt idx="2">
                    <c:v>Kenya</c:v>
                  </c:pt>
                  <c:pt idx="3">
                    <c:v>Tanzania</c:v>
                  </c:pt>
                  <c:pt idx="4">
                    <c:v>Nigeria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7</c:v>
                </c:pt>
                <c:pt idx="2">
                  <c:v>40</c:v>
                </c:pt>
                <c:pt idx="3">
                  <c:v>64</c:v>
                </c:pt>
                <c:pt idx="4">
                  <c:v>113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200" u="none">
                  <a:solidFill>
                    <a:srgbClr val="2D2A26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1" i="0" u="none" strike="noStrike">
                <a:solidFill>
                  <a:srgbClr val="2D2A2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4.xml"/><Relationship Id="rId2" Type="http://schemas.openxmlformats.org/officeDocument/2006/relationships/chart" Target="/ppt/charts/chart45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5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5D300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FFF9D9"/>
          </a:solidFill>
          <a:ln w="12700">
            <a:solidFill>
              <a:srgbClr val="FFF9D9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11480" y="0"/>
            <a:ext cx="54864" cy="6858000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858000" y="-1371600"/>
            <a:ext cx="6400800" cy="6400800"/>
          </a:xfrm>
          <a:prstGeom prst="ellipse">
            <a:avLst/>
          </a:prstGeom>
          <a:solidFill>
            <a:srgbClr val="FFF9D9">
              <a:alpha val="8000"/>
            </a:srgbClr>
          </a:solidFill>
          <a:ln w="12700">
            <a:solidFill>
              <a:srgbClr val="FFF9D9">
                <a:alpha val="8000"/>
              </a:srgbClr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097280"/>
            <a:ext cx="4572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200" b="1" spc="8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</a:t>
            </a:r>
            <a:endParaRPr lang="en-US" sz="7200" dirty="0"/>
          </a:p>
        </p:txBody>
      </p:sp>
      <p:sp>
        <p:nvSpPr>
          <p:cNvPr id="6" name="Text 4"/>
          <p:cNvSpPr/>
          <p:nvPr/>
        </p:nvSpPr>
        <p:spPr>
          <a:xfrm>
            <a:off x="731520" y="2286000"/>
            <a:ext cx="64008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spc="600" kern="0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MICROCREDIT</a:t>
            </a:r>
            <a:endParaRPr lang="en-US" sz="2200" dirty="0"/>
          </a:p>
        </p:txBody>
      </p:sp>
      <p:sp>
        <p:nvSpPr>
          <p:cNvPr id="7" name="Shape 5"/>
          <p:cNvSpPr/>
          <p:nvPr/>
        </p:nvSpPr>
        <p:spPr>
          <a:xfrm>
            <a:off x="731520" y="3017520"/>
            <a:ext cx="548640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31520" y="320040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MONTHLY PERFORMANCE REVIEW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731520" y="374904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C4956A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MARCH 2026</a:t>
            </a:r>
            <a:endParaRPr lang="en-US" sz="2000" dirty="0"/>
          </a:p>
        </p:txBody>
      </p:sp>
      <p:sp>
        <p:nvSpPr>
          <p:cNvPr id="10" name="Text 8"/>
          <p:cNvSpPr/>
          <p:nvPr/>
        </p:nvSpPr>
        <p:spPr>
          <a:xfrm>
            <a:off x="731520" y="4297680"/>
            <a:ext cx="5486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Prepared: September 6, 2026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828800" y="6126480"/>
            <a:ext cx="9875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F0E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 ·  Kenya  ·  Uganda  ·  Sierra Leone  ·  Nigeria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Applications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Number of Applications Per Team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-5.9%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-1.3%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-9.6%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-7.5%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27,138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Applications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78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per Team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-3.7%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total: 27,138 applications (-3.6%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avg applications per team (96).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Assessment Efficiency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Approval Rate (%) Per Country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25,596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Approvals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94.3%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Approval Rate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88036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297180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1A7A6E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↑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8386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977640"/>
            <a:ext cx="4069080" cy="257860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977640"/>
            <a:ext cx="54864" cy="2578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403250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5" name="Text 32"/>
          <p:cNvSpPr/>
          <p:nvPr/>
        </p:nvSpPr>
        <p:spPr>
          <a:xfrm>
            <a:off x="8065008" y="4297680"/>
            <a:ext cx="3886200" cy="216712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total approvals: 25,596.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 had the highest approval rate (96.2%).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Trend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Total Disbursements Per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-3.7%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+44.9%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$6,189,387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+3.3%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7955280" y="2971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7955280" y="3063240"/>
            <a:ext cx="40690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74</a:t>
            </a:r>
            <a:endParaRPr lang="en-US" sz="2600" dirty="0"/>
          </a:p>
        </p:txBody>
      </p:sp>
      <p:sp>
        <p:nvSpPr>
          <p:cNvPr id="31" name="Text 28"/>
          <p:cNvSpPr/>
          <p:nvPr/>
        </p:nvSpPr>
        <p:spPr>
          <a:xfrm>
            <a:off x="8001000" y="3410712"/>
            <a:ext cx="39776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Disb per Team</a:t>
            </a:r>
            <a:endParaRPr lang="en-US" sz="1200" dirty="0"/>
          </a:p>
        </p:txBody>
      </p:sp>
      <p:sp>
        <p:nvSpPr>
          <p:cNvPr id="32" name="Shape 29"/>
          <p:cNvSpPr/>
          <p:nvPr/>
        </p:nvSpPr>
        <p:spPr>
          <a:xfrm>
            <a:off x="7955280" y="3703320"/>
            <a:ext cx="406908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7955280" y="370332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065008" y="3703320"/>
            <a:ext cx="39593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Number of Teams</a:t>
            </a:r>
            <a:endParaRPr lang="en-US" sz="1200" dirty="0"/>
          </a:p>
        </p:txBody>
      </p:sp>
      <p:sp>
        <p:nvSpPr>
          <p:cNvPr id="35" name="Shape 32"/>
          <p:cNvSpPr/>
          <p:nvPr/>
        </p:nvSpPr>
        <p:spPr>
          <a:xfrm>
            <a:off x="7955280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7955280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</a:t>
            </a:r>
            <a:endParaRPr lang="en-US" sz="1100" dirty="0"/>
          </a:p>
        </p:txBody>
      </p:sp>
      <p:sp>
        <p:nvSpPr>
          <p:cNvPr id="37" name="Text 34"/>
          <p:cNvSpPr/>
          <p:nvPr/>
        </p:nvSpPr>
        <p:spPr>
          <a:xfrm>
            <a:off x="7955280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139</a:t>
            </a:r>
            <a:endParaRPr lang="en-US" sz="1100" dirty="0"/>
          </a:p>
        </p:txBody>
      </p:sp>
      <p:sp>
        <p:nvSpPr>
          <p:cNvPr id="38" name="Shape 35"/>
          <p:cNvSpPr/>
          <p:nvPr/>
        </p:nvSpPr>
        <p:spPr>
          <a:xfrm>
            <a:off x="9308592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308592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Kenya</a:t>
            </a:r>
            <a:endParaRPr lang="en-US" sz="1100" dirty="0"/>
          </a:p>
        </p:txBody>
      </p:sp>
      <p:sp>
        <p:nvSpPr>
          <p:cNvPr id="40" name="Text 37"/>
          <p:cNvSpPr/>
          <p:nvPr/>
        </p:nvSpPr>
        <p:spPr>
          <a:xfrm>
            <a:off x="9308592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102</a:t>
            </a:r>
            <a:endParaRPr lang="en-US" sz="1100" dirty="0"/>
          </a:p>
        </p:txBody>
      </p:sp>
      <p:sp>
        <p:nvSpPr>
          <p:cNvPr id="41" name="Shape 38"/>
          <p:cNvSpPr/>
          <p:nvPr/>
        </p:nvSpPr>
        <p:spPr>
          <a:xfrm>
            <a:off x="10661904" y="402336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661904" y="402336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Sierra Leone</a:t>
            </a:r>
            <a:endParaRPr lang="en-US" sz="1100" dirty="0"/>
          </a:p>
        </p:txBody>
      </p:sp>
      <p:sp>
        <p:nvSpPr>
          <p:cNvPr id="43" name="Text 40"/>
          <p:cNvSpPr/>
          <p:nvPr/>
        </p:nvSpPr>
        <p:spPr>
          <a:xfrm>
            <a:off x="10661904" y="426110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33</a:t>
            </a:r>
            <a:endParaRPr lang="en-US" sz="1100" dirty="0"/>
          </a:p>
        </p:txBody>
      </p:sp>
      <p:sp>
        <p:nvSpPr>
          <p:cNvPr id="44" name="Shape 41"/>
          <p:cNvSpPr/>
          <p:nvPr/>
        </p:nvSpPr>
        <p:spPr>
          <a:xfrm>
            <a:off x="7955280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5" name="Text 42"/>
          <p:cNvSpPr/>
          <p:nvPr/>
        </p:nvSpPr>
        <p:spPr>
          <a:xfrm>
            <a:off x="7955280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Uganda</a:t>
            </a:r>
            <a:endParaRPr lang="en-US" sz="1100" dirty="0"/>
          </a:p>
        </p:txBody>
      </p:sp>
      <p:sp>
        <p:nvSpPr>
          <p:cNvPr id="46" name="Text 43"/>
          <p:cNvSpPr/>
          <p:nvPr/>
        </p:nvSpPr>
        <p:spPr>
          <a:xfrm>
            <a:off x="7955280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38</a:t>
            </a:r>
            <a:endParaRPr lang="en-US" sz="1100" dirty="0"/>
          </a:p>
        </p:txBody>
      </p:sp>
      <p:sp>
        <p:nvSpPr>
          <p:cNvPr id="47" name="Shape 44"/>
          <p:cNvSpPr/>
          <p:nvPr/>
        </p:nvSpPr>
        <p:spPr>
          <a:xfrm>
            <a:off x="9308592" y="4617720"/>
            <a:ext cx="1234440" cy="530352"/>
          </a:xfrm>
          <a:prstGeom prst="rect">
            <a:avLst/>
          </a:prstGeom>
          <a:solidFill>
            <a:srgbClr val="FFF9D9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308592" y="4617720"/>
            <a:ext cx="1234440" cy="237744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ctr" indent="0" marL="0">
              <a:buNone/>
            </a:pPr>
            <a:r>
              <a:rPr lang="en-US" sz="11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Nigeria</a:t>
            </a:r>
            <a:endParaRPr lang="en-US" sz="1100" dirty="0"/>
          </a:p>
        </p:txBody>
      </p:sp>
      <p:sp>
        <p:nvSpPr>
          <p:cNvPr id="49" name="Text 46"/>
          <p:cNvSpPr/>
          <p:nvPr/>
        </p:nvSpPr>
        <p:spPr>
          <a:xfrm>
            <a:off x="9308592" y="4855464"/>
            <a:ext cx="12344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36</a:t>
            </a:r>
            <a:endParaRPr lang="en-US" sz="1100" dirty="0"/>
          </a:p>
        </p:txBody>
      </p:sp>
      <p:sp>
        <p:nvSpPr>
          <p:cNvPr id="50" name="Shape 47"/>
          <p:cNvSpPr/>
          <p:nvPr/>
        </p:nvSpPr>
        <p:spPr>
          <a:xfrm>
            <a:off x="7955280" y="5321808"/>
            <a:ext cx="4069080" cy="960120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51" name="Shape 48"/>
          <p:cNvSpPr/>
          <p:nvPr/>
        </p:nvSpPr>
        <p:spPr>
          <a:xfrm>
            <a:off x="7955280" y="5321808"/>
            <a:ext cx="54864" cy="9601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52" name="Text 49"/>
          <p:cNvSpPr/>
          <p:nvPr/>
        </p:nvSpPr>
        <p:spPr>
          <a:xfrm>
            <a:off x="8065008" y="5376672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53" name="Text 50"/>
          <p:cNvSpPr/>
          <p:nvPr/>
        </p:nvSpPr>
        <p:spPr>
          <a:xfrm>
            <a:off x="8065008" y="5641848"/>
            <a:ext cx="38862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disbursed: $6,189,387 (+3.3%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had the highest disbursements ($2,899,960).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Disbursement Stats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Loan Size (USD) – March 2026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172200" y="539496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17220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281928" y="539496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Disbursements Per Team – March 2026</a:t>
            </a:r>
            <a:endParaRPr lang="en-US" sz="1200" dirty="0"/>
          </a:p>
        </p:txBody>
      </p:sp>
      <p:graphicFrame>
        <p:nvGraphicFramePr>
          <p:cNvPr id="14" name="Chart 0" descr=""/>
          <p:cNvGraphicFramePr/>
          <p:nvPr/>
        </p:nvGraphicFramePr>
        <p:xfrm>
          <a:off x="13716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Chart 1" descr=""/>
          <p:cNvGraphicFramePr/>
          <p:nvPr/>
        </p:nvGraphicFramePr>
        <p:xfrm>
          <a:off x="6172200" y="841248"/>
          <a:ext cx="580644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0" y="5577840"/>
            <a:ext cx="59893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7" name="Shape 13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109728" y="5577840"/>
            <a:ext cx="58795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9" name="Text 15"/>
          <p:cNvSpPr/>
          <p:nvPr/>
        </p:nvSpPr>
        <p:spPr>
          <a:xfrm>
            <a:off x="13716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+4.8%</a:t>
            </a:r>
            <a:endParaRPr lang="en-US" sz="1200" dirty="0"/>
          </a:p>
        </p:txBody>
      </p:sp>
      <p:sp>
        <p:nvSpPr>
          <p:cNvPr id="20" name="Text 16"/>
          <p:cNvSpPr/>
          <p:nvPr/>
        </p:nvSpPr>
        <p:spPr>
          <a:xfrm>
            <a:off x="129844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+7.4%</a:t>
            </a:r>
            <a:endParaRPr lang="en-US" sz="1200" dirty="0"/>
          </a:p>
        </p:txBody>
      </p:sp>
      <p:sp>
        <p:nvSpPr>
          <p:cNvPr id="21" name="Text 17"/>
          <p:cNvSpPr/>
          <p:nvPr/>
        </p:nvSpPr>
        <p:spPr>
          <a:xfrm>
            <a:off x="245973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+1.9%</a:t>
            </a:r>
            <a:endParaRPr lang="en-US" sz="1200" dirty="0"/>
          </a:p>
        </p:txBody>
      </p:sp>
      <p:sp>
        <p:nvSpPr>
          <p:cNvPr id="22" name="Text 18"/>
          <p:cNvSpPr/>
          <p:nvPr/>
        </p:nvSpPr>
        <p:spPr>
          <a:xfrm>
            <a:off x="362102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-1.1%</a:t>
            </a:r>
            <a:endParaRPr lang="en-US" sz="1200" dirty="0"/>
          </a:p>
        </p:txBody>
      </p:sp>
      <p:sp>
        <p:nvSpPr>
          <p:cNvPr id="23" name="Text 19"/>
          <p:cNvSpPr/>
          <p:nvPr/>
        </p:nvSpPr>
        <p:spPr>
          <a:xfrm>
            <a:off x="478231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+7.2%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172200" y="5577840"/>
            <a:ext cx="585216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5" name="Shape 21"/>
          <p:cNvSpPr/>
          <p:nvPr/>
        </p:nvSpPr>
        <p:spPr>
          <a:xfrm>
            <a:off x="617220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2"/>
          <p:cNvSpPr/>
          <p:nvPr/>
        </p:nvSpPr>
        <p:spPr>
          <a:xfrm>
            <a:off x="6281928" y="5577840"/>
            <a:ext cx="57424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27" name="Text 23"/>
          <p:cNvSpPr/>
          <p:nvPr/>
        </p:nvSpPr>
        <p:spPr>
          <a:xfrm>
            <a:off x="6172200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8" name="Text 24"/>
          <p:cNvSpPr/>
          <p:nvPr/>
        </p:nvSpPr>
        <p:spPr>
          <a:xfrm>
            <a:off x="7333488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9" name="Text 25"/>
          <p:cNvSpPr/>
          <p:nvPr/>
        </p:nvSpPr>
        <p:spPr>
          <a:xfrm>
            <a:off x="8494776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0" name="Text 26"/>
          <p:cNvSpPr/>
          <p:nvPr/>
        </p:nvSpPr>
        <p:spPr>
          <a:xfrm>
            <a:off x="9656064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31" name="Text 27"/>
          <p:cNvSpPr/>
          <p:nvPr/>
        </p:nvSpPr>
        <p:spPr>
          <a:xfrm>
            <a:off x="10817352" y="5925312"/>
            <a:ext cx="1161288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Turnaround Time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Avg Days from Application to Disbursement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↑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↓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4 days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316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 Time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828800"/>
            <a:ext cx="406908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828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920240"/>
            <a:ext cx="4069080" cy="57835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C0392B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—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459736"/>
            <a:ext cx="39776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971800"/>
            <a:ext cx="4069080" cy="358444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971800"/>
            <a:ext cx="54864" cy="358444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302666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91840"/>
            <a:ext cx="3886200" cy="3172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avg turnaround: 4 days.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Fastest: Tanzania (3 days). Slowest: Kenya (4 days).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Size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Loan Book – P+I Outstanding (≤60 Days Overdue)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7589520" cy="4663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577840"/>
            <a:ext cx="777240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57784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577840"/>
            <a:ext cx="76626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from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+5.7%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1655064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+0.8%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3172968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+2.5%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4690872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-1.5%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6208776" y="5925312"/>
            <a:ext cx="1517904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-9.1%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7955280" y="68580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1" name="Shape 18"/>
          <p:cNvSpPr/>
          <p:nvPr/>
        </p:nvSpPr>
        <p:spPr>
          <a:xfrm>
            <a:off x="7955280" y="68580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955280" y="77724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$14,022,641</a:t>
            </a:r>
            <a:endParaRPr lang="en-US" sz="2600" dirty="0"/>
          </a:p>
        </p:txBody>
      </p:sp>
      <p:sp>
        <p:nvSpPr>
          <p:cNvPr id="23" name="Text 20"/>
          <p:cNvSpPr/>
          <p:nvPr/>
        </p:nvSpPr>
        <p:spPr>
          <a:xfrm>
            <a:off x="8001000" y="128930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 (USD)</a:t>
            </a:r>
            <a:endParaRPr lang="en-US" sz="1200" dirty="0"/>
          </a:p>
        </p:txBody>
      </p:sp>
      <p:sp>
        <p:nvSpPr>
          <p:cNvPr id="24" name="Shape 21"/>
          <p:cNvSpPr/>
          <p:nvPr/>
        </p:nvSpPr>
        <p:spPr>
          <a:xfrm>
            <a:off x="7955280" y="1783080"/>
            <a:ext cx="406908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7955280" y="1783080"/>
            <a:ext cx="40690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7955280" y="1874520"/>
            <a:ext cx="4069080" cy="5532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+2.6%</a:t>
            </a:r>
            <a:endParaRPr lang="en-US" sz="2600" dirty="0"/>
          </a:p>
        </p:txBody>
      </p:sp>
      <p:sp>
        <p:nvSpPr>
          <p:cNvPr id="27" name="Text 24"/>
          <p:cNvSpPr/>
          <p:nvPr/>
        </p:nvSpPr>
        <p:spPr>
          <a:xfrm>
            <a:off x="8001000" y="2386584"/>
            <a:ext cx="397764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vs Prior Month</a:t>
            </a:r>
            <a:endParaRPr lang="en-US" sz="1200" dirty="0"/>
          </a:p>
        </p:txBody>
      </p:sp>
      <p:sp>
        <p:nvSpPr>
          <p:cNvPr id="28" name="Shape 25"/>
          <p:cNvSpPr/>
          <p:nvPr/>
        </p:nvSpPr>
        <p:spPr>
          <a:xfrm>
            <a:off x="7955280" y="2880360"/>
            <a:ext cx="4069080" cy="3675888"/>
          </a:xfrm>
          <a:prstGeom prst="rect">
            <a:avLst/>
          </a:prstGeom>
          <a:solidFill>
            <a:srgbClr val="FAF7F2"/>
          </a:solidFill>
          <a:ln w="12700">
            <a:solidFill>
              <a:srgbClr val="D6CFC4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955280" y="2880360"/>
            <a:ext cx="54864" cy="367588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8065008" y="2935224"/>
            <a:ext cx="3886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spc="100" kern="0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KEY HIGHLIGHTS</a:t>
            </a:r>
            <a:endParaRPr lang="en-US" sz="1200" dirty="0"/>
          </a:p>
        </p:txBody>
      </p:sp>
      <p:sp>
        <p:nvSpPr>
          <p:cNvPr id="31" name="Text 28"/>
          <p:cNvSpPr/>
          <p:nvPr/>
        </p:nvSpPr>
        <p:spPr>
          <a:xfrm>
            <a:off x="8065008" y="3200400"/>
            <a:ext cx="3886200" cy="326440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loan book: $14,022,641 (+2.6% vs prior month).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2D2A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Tanzania has the largest loan book ($6,676,011).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Year to Date Chronic Rates (P+I) – March 2026</a:t>
            </a:r>
            <a:endParaRPr lang="en-US" sz="1200" dirty="0"/>
          </a:p>
        </p:txBody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Chronic Rate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Default Rates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PAR 30 – March 2026</a:t>
            </a:r>
            <a:endParaRPr lang="en-US" sz="1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3200400"/>
                <a:gridCol w="2743200"/>
                <a:gridCol w="2743200"/>
                <a:gridCol w="320040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Prior Month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PAR 30 – Month Under Review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Trend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↑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7A6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Summary Financial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Income &amp; Expenses (USD) – March 2026</a:t>
            </a:r>
            <a:endParaRPr lang="en-US" sz="1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37160" y="868680"/>
          <a:ext cx="1188720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1645920"/>
                <a:gridCol w="1645920"/>
                <a:gridCol w="1645920"/>
                <a:gridCol w="1645920"/>
                <a:gridCol w="1234440"/>
                <a:gridCol w="1874520"/>
              </a:tblGrid>
              <a:tr h="45720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Country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Revenue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Provision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Opex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Operating Income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Op. Margin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9D9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Prior Month OI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D300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Tanzania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$1,002,357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$-169,884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$-496,116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$336,358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$234,734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Kenya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$671,626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$-100,053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$-434,403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$137,171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$113,521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Sierra Leone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$220,744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$-5,321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$-124,684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$90,739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$68,359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Uganda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$192,034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$-46,464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$-145,991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$-421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$-37,289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AF7F2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2D2A26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Nigeria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$53,295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$-33,474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2D2A2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$-85,519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$-65,698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-123.3%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C039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$-89,786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entury Gothic" pitchFamily="34" charset="0"/>
                          <a:ea typeface="Century Gothic" pitchFamily="34" charset="-122"/>
                          <a:cs typeface="Century Gothic" pitchFamily="34" charset="-120"/>
                        </a:rPr>
                        <a:t>GROUP TOTAL</a:t>
                      </a:r>
                      <a:endParaRPr lang="en-US" sz="1200" dirty="0">
                        <a:latin typeface="Century Gothic" charset="0"/>
                        <a:ea typeface="Century Gothic" charset="0"/>
                        <a:cs typeface="Century Gothi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$2,140,057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$-355,195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$-1,286,713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$498,150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D300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$289,538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6CFC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9D9"/>
                    </a:solidFill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137160" y="4370832"/>
            <a:ext cx="1188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= Interest Income + Processing Fees  |  Opex includes Interest Expense  |  Figures in USD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13716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13716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3716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$2,140,057</a:t>
            </a:r>
            <a:endParaRPr lang="en-US" sz="2600" dirty="0"/>
          </a:p>
        </p:txBody>
      </p:sp>
      <p:sp>
        <p:nvSpPr>
          <p:cNvPr id="16" name="Text 13"/>
          <p:cNvSpPr/>
          <p:nvPr/>
        </p:nvSpPr>
        <p:spPr>
          <a:xfrm>
            <a:off x="18288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Revenue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416052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18" name="Shape 15"/>
          <p:cNvSpPr/>
          <p:nvPr/>
        </p:nvSpPr>
        <p:spPr>
          <a:xfrm>
            <a:off x="416052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16052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$498,150</a:t>
            </a:r>
            <a:endParaRPr lang="en-US" sz="2600" dirty="0"/>
          </a:p>
        </p:txBody>
      </p:sp>
      <p:sp>
        <p:nvSpPr>
          <p:cNvPr id="20" name="Text 17"/>
          <p:cNvSpPr/>
          <p:nvPr/>
        </p:nvSpPr>
        <p:spPr>
          <a:xfrm>
            <a:off x="420624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Operating Income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8183880" y="4681728"/>
            <a:ext cx="3840480" cy="1719072"/>
          </a:xfrm>
          <a:prstGeom prst="rect">
            <a:avLst/>
          </a:prstGeom>
          <a:solidFill>
            <a:srgbClr val="FFFFFF"/>
          </a:solidFill>
          <a:ln w="12700">
            <a:solidFill>
              <a:srgbClr val="D6CFC4"/>
            </a:solidFill>
            <a:prstDash val="solid"/>
          </a:ln>
          <a:effectLst>
            <a:outerShdw sx="100000" sy="100000" kx="0" ky="0" algn="bl" rotWithShape="0" blurRad="50800" dist="25400" dir="8100000">
              <a:srgbClr val="000000">
                <a:alpha val="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8183880" y="4681728"/>
            <a:ext cx="3840480" cy="457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183880" y="4773168"/>
            <a:ext cx="3840480" cy="94549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23.3%</a:t>
            </a:r>
            <a:endParaRPr lang="en-US" sz="2600" dirty="0"/>
          </a:p>
        </p:txBody>
      </p:sp>
      <p:sp>
        <p:nvSpPr>
          <p:cNvPr id="24" name="Text 21"/>
          <p:cNvSpPr/>
          <p:nvPr/>
        </p:nvSpPr>
        <p:spPr>
          <a:xfrm>
            <a:off x="8229600" y="5713171"/>
            <a:ext cx="3749040" cy="68762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 Margin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Staff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Staff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6418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6418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6418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+4.4%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+0.4%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-17.7%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-3.2%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9436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-0.6%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Fuel Cost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Fuel Cost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+44.1%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-31.0%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+12.7%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+18.4%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+9.3%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502920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320040" y="0"/>
            <a:ext cx="11521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9D9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Operating Expenses – Vehicle Maintenance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0" y="502920"/>
            <a:ext cx="12161520" cy="36576"/>
          </a:xfrm>
          <a:prstGeom prst="rect">
            <a:avLst/>
          </a:prstGeom>
          <a:solidFill>
            <a:srgbClr val="C4956A"/>
          </a:solidFill>
          <a:ln w="12700">
            <a:solidFill>
              <a:srgbClr val="C4956A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0" y="6565392"/>
            <a:ext cx="12161520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274320" y="6565392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OYA MICROCREDIT  |  March 2026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9875520" y="6565392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F0E0B8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CONFIDENTIAL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0" y="539496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0" y="539496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9728" y="539496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Average Vehicle Maintenance Per Team by Country (USD) – March 2026</a:t>
            </a:r>
            <a:endParaRPr lang="en-US" sz="1200" dirty="0"/>
          </a:p>
        </p:txBody>
      </p:sp>
      <p:graphicFrame>
        <p:nvGraphicFramePr>
          <p:cNvPr id="11" name="Chart 0" descr=""/>
          <p:cNvGraphicFramePr/>
          <p:nvPr/>
        </p:nvGraphicFramePr>
        <p:xfrm>
          <a:off x="137160" y="841248"/>
          <a:ext cx="11887200" cy="4297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2" name="Shape 9"/>
          <p:cNvSpPr/>
          <p:nvPr/>
        </p:nvSpPr>
        <p:spPr>
          <a:xfrm>
            <a:off x="0" y="5184648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0" y="5184648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" y="5184648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Cost per Team vs Prior Month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13716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7180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-100.0%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251460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+16.7%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489204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+8.1%</a:t>
            </a:r>
            <a:endParaRPr lang="en-US" sz="1200" dirty="0"/>
          </a:p>
        </p:txBody>
      </p:sp>
      <p:sp>
        <p:nvSpPr>
          <p:cNvPr id="18" name="Text 15"/>
          <p:cNvSpPr/>
          <p:nvPr/>
        </p:nvSpPr>
        <p:spPr>
          <a:xfrm>
            <a:off x="726948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+48.8%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9646920" y="5486400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+130.6%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0" y="5897880"/>
            <a:ext cx="12161520" cy="292608"/>
          </a:xfrm>
          <a:prstGeom prst="rect">
            <a:avLst/>
          </a:prstGeom>
          <a:solidFill>
            <a:srgbClr val="FFF9D9"/>
          </a:solidFill>
          <a:ln w="12700">
            <a:solidFill>
              <a:srgbClr val="F0E0B8"/>
            </a:solidFill>
            <a:prstDash val="solid"/>
          </a:ln>
        </p:spPr>
      </p:sp>
      <p:sp>
        <p:nvSpPr>
          <p:cNvPr id="21" name="Shape 18"/>
          <p:cNvSpPr/>
          <p:nvPr/>
        </p:nvSpPr>
        <p:spPr>
          <a:xfrm>
            <a:off x="0" y="5897880"/>
            <a:ext cx="54864" cy="292608"/>
          </a:xfrm>
          <a:prstGeom prst="rect">
            <a:avLst/>
          </a:prstGeom>
          <a:solidFill>
            <a:srgbClr val="5D300F"/>
          </a:solidFill>
          <a:ln w="12700">
            <a:solidFill>
              <a:srgbClr val="5D300F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109728" y="5897880"/>
            <a:ext cx="120517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D300F"/>
                </a:solidFill>
                <a:latin typeface="Century Gothic" pitchFamily="34" charset="0"/>
                <a:ea typeface="Century Gothic" pitchFamily="34" charset="-122"/>
                <a:cs typeface="Century Gothic" pitchFamily="34" charset="-120"/>
              </a:rPr>
              <a:t>% Change in Disb per Team vs Prior Month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13716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4" name="Text 21"/>
          <p:cNvSpPr/>
          <p:nvPr/>
        </p:nvSpPr>
        <p:spPr>
          <a:xfrm>
            <a:off x="251460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+0.0%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489204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-3.0%</a:t>
            </a:r>
            <a:endParaRPr lang="en-US" sz="1200" dirty="0"/>
          </a:p>
        </p:txBody>
      </p:sp>
      <p:sp>
        <p:nvSpPr>
          <p:cNvPr id="26" name="Text 23"/>
          <p:cNvSpPr/>
          <p:nvPr/>
        </p:nvSpPr>
        <p:spPr>
          <a:xfrm>
            <a:off x="726948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A7A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+0.6%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9646920" y="6199632"/>
            <a:ext cx="2377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C039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-14.5%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Oya Group Monthly Review — March 2026</dc:title>
  <dc:subject>PptxGenJS Presentation</dc:subject>
  <dc:creator>Oya Microcredit</dc:creator>
  <cp:lastModifiedBy>Oya Microcredit</cp:lastModifiedBy>
  <cp:revision>1</cp:revision>
  <dcterms:created xsi:type="dcterms:W3CDTF">2026-09-06T00:46:26Z</dcterms:created>
  <dcterms:modified xsi:type="dcterms:W3CDTF">2026-09-06T00:46:26Z</dcterms:modified>
</cp:coreProperties>
</file>